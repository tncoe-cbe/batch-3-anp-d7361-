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7" r:id="rId19"/>
    <p:sldId id="273" r:id="rId20"/>
    <p:sldId id="274" r:id="rId21"/>
    <p:sldId id="275" r:id="rId22"/>
    <p:sldId id="276" r:id="rId2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88552" y="0"/>
            <a:ext cx="320040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B4D8"/>
                </a:solidFill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9144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Understanding Data
Distributions &amp;
Relationships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ACC"/>
                </a:solidFill>
              </a:rPr>
              <a:t>Distributions  •  Normal Curve  •  Quartiles  •  IQR  •  Z-Scores  •  Skewness  •  Correlation</a:t>
            </a:r>
          </a:p>
        </p:txBody>
      </p:sp>
      <p:sp>
        <p:nvSpPr>
          <p:cNvPr id="9" name="Oval 8"/>
          <p:cNvSpPr/>
          <p:nvPr/>
        </p:nvSpPr>
        <p:spPr>
          <a:xfrm>
            <a:off x="10817352" y="731520"/>
            <a:ext cx="1828800" cy="1828800"/>
          </a:xfrm>
          <a:prstGeom prst="ellipse">
            <a:avLst/>
          </a:prstGeom>
          <a:solidFill>
            <a:srgbClr val="0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137392" y="3337560"/>
            <a:ext cx="1188720" cy="1188720"/>
          </a:xfrm>
          <a:prstGeom prst="ellipse">
            <a:avLst/>
          </a:prstGeom>
          <a:solidFill>
            <a:srgbClr val="0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65992" y="5486400"/>
            <a:ext cx="731520" cy="731520"/>
          </a:xfrm>
          <a:prstGeom prst="ellipse">
            <a:avLst/>
          </a:prstGeom>
          <a:solidFill>
            <a:srgbClr val="0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Why Data Distribution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7589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</a:rPr>
              <a:t>Average alone does not tell the complete story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21208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212080" cy="5303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73152" cy="420624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81328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1A40"/>
                </a:solidFill>
              </a:rPr>
              <a:t>🏪  Store A — Consistent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084831"/>
            <a:ext cx="475488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157984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1A40"/>
                </a:solidFill>
              </a:rPr>
              <a:t>₹48,000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60320"/>
            <a:ext cx="475488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633472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1A40"/>
                </a:solidFill>
              </a:rPr>
              <a:t>₹50,000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035808"/>
            <a:ext cx="4754880" cy="4389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108960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₹52,000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11296"/>
            <a:ext cx="475488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584448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1A40"/>
                </a:solidFill>
              </a:rPr>
              <a:t>₹49,000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986783"/>
            <a:ext cx="475488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4059935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1A40"/>
                </a:solidFill>
              </a:rPr>
              <a:t>₹51,000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617720"/>
            <a:ext cx="4754880" cy="658368"/>
          </a:xfrm>
          <a:prstGeom prst="rect">
            <a:avLst/>
          </a:prstGeom>
          <a:solidFill>
            <a:srgbClr val="E0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72744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733"/>
                </a:solidFill>
              </a:rPr>
              <a:t>✅  Average = ₹50,000  |  Low variability — Predictable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417320"/>
            <a:ext cx="521208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0" y="1417320"/>
            <a:ext cx="5212080" cy="5303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1417320"/>
            <a:ext cx="73152" cy="4206240"/>
          </a:xfrm>
          <a:prstGeom prst="rect">
            <a:avLst/>
          </a:prstGeom>
          <a:solidFill>
            <a:srgbClr val="CC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1481328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1A40"/>
                </a:solidFill>
              </a:rPr>
              <a:t>🏪  Store B — Volatile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2084831"/>
            <a:ext cx="475488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6560" y="2157984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1A40"/>
                </a:solidFill>
              </a:rPr>
              <a:t>₹10,000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2560320"/>
            <a:ext cx="4754880" cy="43891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66560" y="2633472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₹90,000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3035808"/>
            <a:ext cx="475488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66560" y="3108960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1A40"/>
                </a:solidFill>
              </a:rPr>
              <a:t>₹20,000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3511296"/>
            <a:ext cx="4754880" cy="43891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66560" y="3584448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₹80,000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3986783"/>
            <a:ext cx="4754880" cy="4389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66560" y="4059935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1A40"/>
                </a:solidFill>
              </a:rPr>
              <a:t>₹50,000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4617720"/>
            <a:ext cx="4754880" cy="658368"/>
          </a:xfrm>
          <a:prstGeom prst="rect">
            <a:avLst/>
          </a:prstGeom>
          <a:solidFill>
            <a:srgbClr val="FF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20840" y="472744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A4400"/>
                </a:solidFill>
              </a:rPr>
              <a:t>⚠️  Average = ₹50,000  |  High variability — Unpredictable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870448"/>
            <a:ext cx="11247120" cy="749808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57200" y="5870448"/>
            <a:ext cx="73152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5943600"/>
            <a:ext cx="10972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💡  Key Insight: Averages tell us the center. Distributions tell us the behavior. Same mean — very different stories.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Random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</a:rPr>
              <a:t>A numerical value whose result depends on a random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47120" cy="68580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73152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Definition: A random variable is a number whose value depends on chance — representing uncertain business outcomes.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5577840" cy="1874519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57784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31343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🛒  Customers 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889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Could be 10, 50, 100, 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004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CCEE"/>
                </a:solidFill>
              </a:rPr>
              <a:t>📌 Retail store footfall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148840"/>
            <a:ext cx="5577840" cy="1874519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2148840"/>
            <a:ext cx="5577840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231343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9F1C"/>
                </a:solidFill>
              </a:rPr>
              <a:t>💻  Daily 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7889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Could be ₹10K–₹75K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2004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CCEE"/>
                </a:solidFill>
              </a:rPr>
              <a:t>📌 Online store income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06240"/>
            <a:ext cx="5577840" cy="1874519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4206240"/>
            <a:ext cx="557784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4370831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🚚  Delivery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8463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15 – 45 minutes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2578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CCEE"/>
                </a:solidFill>
              </a:rPr>
              <a:t>📌 Courier service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206240"/>
            <a:ext cx="5577840" cy="1874519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09360" y="4206240"/>
            <a:ext cx="5577840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4370831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9F1C"/>
                </a:solidFill>
              </a:rPr>
              <a:t>⚠️  Product Defects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8463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0, 1, 2, 3 per batch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2578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CCEE"/>
                </a:solidFill>
              </a:rPr>
              <a:t>📌 Manufacturing quality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355080"/>
            <a:ext cx="11247120" cy="384048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64190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🔑  Random variables are the foundation of probability distributions — modeling future uncertainty in business.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Types of Random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7589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</a:rPr>
              <a:t>Discrete (countable) vs Continuous (measurable)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212080" cy="5230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212080" cy="54864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73152" cy="5230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81328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🔢  Discrete Random Variable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5577"/>
                </a:solidFill>
              </a:rPr>
              <a:t>Takes specific COUNTABLE values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87168"/>
            <a:ext cx="4754880" cy="71323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1A40"/>
                </a:solidFill>
              </a:rPr>
              <a:t># 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560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5577"/>
                </a:solidFill>
              </a:rPr>
              <a:t>0  1  2  3  4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291840"/>
            <a:ext cx="4754880" cy="71323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3649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1A40"/>
                </a:solidFill>
              </a:rPr>
              <a:t># Defects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3649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5577"/>
                </a:solidFill>
              </a:rPr>
              <a:t>0  1  2  3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096512"/>
            <a:ext cx="4754880" cy="71323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1696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1A40"/>
                </a:solidFill>
              </a:rPr>
              <a:t># Orders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16966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5577"/>
                </a:solidFill>
              </a:rPr>
              <a:t>100  101  102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37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1A40"/>
                </a:solidFill>
              </a:rPr>
              <a:t>Characteristics: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285232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5577"/>
                </a:solidFill>
              </a:rPr>
              <a:t>✓  Countable  ✓  Whole numbers  ✓  Obtained by counting
Biz: Support tickets • Purchases • Fraud cases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417320"/>
            <a:ext cx="5212080" cy="5230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0" y="1417320"/>
            <a:ext cx="5212080" cy="54864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1417320"/>
            <a:ext cx="73152" cy="523036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1481328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📏  Continuous Random Variable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05740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5577"/>
                </a:solidFill>
              </a:rPr>
              <a:t>Takes ANY value within a range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2487168"/>
            <a:ext cx="4754880" cy="71323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2084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1A40"/>
                </a:solidFill>
              </a:rPr>
              <a:t>Revenue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2560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5577"/>
                </a:solidFill>
              </a:rPr>
              <a:t>₹25,000.50  ₹25,000.75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3291840"/>
            <a:ext cx="4754880" cy="71323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20840" y="33649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1A40"/>
                </a:solidFill>
              </a:rPr>
              <a:t>Delivery 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33649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5577"/>
                </a:solidFill>
              </a:rPr>
              <a:t>15.2  15.25  15.253 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4096512"/>
            <a:ext cx="4754880" cy="71323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20840" y="41696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1A40"/>
                </a:solidFill>
              </a:rPr>
              <a:t>Weight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416966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5577"/>
                </a:solidFill>
              </a:rPr>
              <a:t>70.5  70.52  70.523 kg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937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1A40"/>
                </a:solidFill>
              </a:rPr>
              <a:t>Characteristics: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285232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5577"/>
                </a:solidFill>
              </a:rPr>
              <a:t>✓  Measurable  ✓  Includes decimals  ✓  Infinite values
Biz: Revenue • Delivery time • Customer wait time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6702552"/>
            <a:ext cx="11247120" cy="914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Probability Distributions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</a:rPr>
              <a:t>Which outcomes are more likely — and which are rare?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47120" cy="68580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73152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 probability distribution describes HOW values of a random variable are spread — telling us what's common, occasional, and rare.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5212080" cy="4462272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212080" cy="5303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212848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1A40"/>
                </a:solidFill>
              </a:rPr>
              <a:t>📊  Discrete Distributions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1635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DDFF"/>
                </a:solidFill>
              </a:rPr>
              <a:t>Used when outcomes are countable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46120"/>
            <a:ext cx="4754880" cy="896112"/>
          </a:xfrm>
          <a:prstGeom prst="rect">
            <a:avLst/>
          </a:prstGeom>
          <a:solidFill>
            <a:srgbClr val="0F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31927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🎯  Bernoulli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3989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Single trial — success or failure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251960"/>
            <a:ext cx="4754880" cy="896112"/>
          </a:xfrm>
          <a:prstGeom prst="rect">
            <a:avLst/>
          </a:prstGeom>
          <a:solidFill>
            <a:srgbClr val="0F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32511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📈  Binomial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4573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Count of successes in n trials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257800"/>
            <a:ext cx="4754880" cy="896112"/>
          </a:xfrm>
          <a:prstGeom prst="rect">
            <a:avLst/>
          </a:prstGeom>
          <a:solidFill>
            <a:srgbClr val="0F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53309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☎️  Poisson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515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Events per fixed interval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148840"/>
            <a:ext cx="5212080" cy="4462272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0" y="2148840"/>
            <a:ext cx="5212080" cy="5303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2212848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1A40"/>
                </a:solidFill>
              </a:rPr>
              <a:t>📐  Continuous Distributions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81635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DDFF"/>
                </a:solidFill>
              </a:rPr>
              <a:t>Used when outcomes are measurable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3246120"/>
            <a:ext cx="4754880" cy="896112"/>
          </a:xfrm>
          <a:prstGeom prst="rect">
            <a:avLst/>
          </a:prstGeom>
          <a:solidFill>
            <a:srgbClr val="0F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20840" y="331927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</a:rPr>
              <a:t>⚖️  Uniform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73989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All outcomes equally likely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4251960"/>
            <a:ext cx="4754880" cy="896112"/>
          </a:xfrm>
          <a:prstGeom prst="rect">
            <a:avLst/>
          </a:prstGeom>
          <a:solidFill>
            <a:srgbClr val="0F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20840" y="432511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</a:rPr>
              <a:t>📉  Exponential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474573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Time between events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5257800"/>
            <a:ext cx="4754880" cy="896112"/>
          </a:xfrm>
          <a:prstGeom prst="rect">
            <a:avLst/>
          </a:prstGeom>
          <a:solidFill>
            <a:srgbClr val="0F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20840" y="53309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</a:rPr>
              <a:t>🔔  Normal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7515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Bell curve — most common in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Discrete Probability Distributions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7589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</a:rPr>
              <a:t>Bernoulli • Binomial • Poisson — the three key discrete distributions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703320" cy="5230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37033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73152" cy="5230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28800" y="1600200"/>
            <a:ext cx="731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/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4028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61A40"/>
                </a:solidFill>
              </a:rPr>
              <a:t>Bernoulli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24912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5577"/>
                </a:solidFill>
              </a:rPr>
              <a:t>Single trial, 2 outcomes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54680"/>
            <a:ext cx="34290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1A40"/>
                </a:solidFill>
              </a:rPr>
              <a:t>Purchase/No Purchase
Spam/Not Spam
Click/No Click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33087"/>
            <a:ext cx="3520440" cy="621792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18795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📌 1 Customer — did they buy? Yes/No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46320"/>
            <a:ext cx="3520440" cy="84124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910328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5577"/>
                </a:solidFill>
              </a:rPr>
              <a:t>🏢 Spam filters, A/B test success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1463040"/>
            <a:ext cx="3703320" cy="5230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97680" y="1463040"/>
            <a:ext cx="3703320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97680" y="1463040"/>
            <a:ext cx="73152" cy="523036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60720" y="1600200"/>
            <a:ext cx="731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/>
              <a:t>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24028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61A40"/>
                </a:solidFill>
              </a:rPr>
              <a:t>Binomial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2724912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5577"/>
                </a:solidFill>
              </a:rPr>
              <a:t>Multiple Bernoulli trials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3154680"/>
            <a:ext cx="34290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1A40"/>
                </a:solidFill>
              </a:rPr>
              <a:t>Email campaign: 100 customers
How many open the email?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4133087"/>
            <a:ext cx="3520440" cy="621792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80560" y="418795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📌 100 customers — how many buy?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4846320"/>
            <a:ext cx="3520440" cy="84124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80560" y="4910328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5577"/>
                </a:solidFill>
              </a:rPr>
              <a:t>🏢 Marketing campaigns, recruitment, AI accuracy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1463040"/>
            <a:ext cx="3703320" cy="5230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29600" y="1463040"/>
            <a:ext cx="3703320" cy="73152"/>
          </a:xfrm>
          <a:prstGeom prst="rect">
            <a:avLst/>
          </a:prstGeom>
          <a:solidFill>
            <a:srgbClr val="00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29600" y="1463040"/>
            <a:ext cx="73152" cy="5230368"/>
          </a:xfrm>
          <a:prstGeom prst="rect">
            <a:avLst/>
          </a:prstGeom>
          <a:solidFill>
            <a:srgbClr val="00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92640" y="1600200"/>
            <a:ext cx="731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/>
              <a:t>☎️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224028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61A40"/>
                </a:solidFill>
              </a:rPr>
              <a:t>Poisson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2724912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5577"/>
                </a:solidFill>
              </a:rPr>
              <a:t>Events in a fixed interval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3154680"/>
            <a:ext cx="34290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1A40"/>
                </a:solidFill>
              </a:rPr>
              <a:t>Calls per hour
Defects per day
Website visits/minute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21040" y="4133087"/>
            <a:ext cx="3520440" cy="621792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12480" y="418795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📌 Call centre — 25 calls/hr expected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4846320"/>
            <a:ext cx="3520440" cy="84124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12480" y="4910328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5577"/>
                </a:solidFill>
              </a:rPr>
              <a:t>🏢 Call centres, cybersecurity alerts, defect monitoring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Bernoulli vs Binomial — Key Differences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</a:rPr>
              <a:t>Understanding when to use which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698480" cy="50292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34416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Aspect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34416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Bernoulli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19" y="134416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9F1C"/>
                </a:solidFill>
              </a:rPr>
              <a:t>Binomial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847088"/>
            <a:ext cx="10698480" cy="713232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847088"/>
            <a:ext cx="54864" cy="7132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Trials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0116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EEFF"/>
                </a:solidFill>
              </a:rPr>
              <a:t>Single Trial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19" y="20116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EEFF"/>
                </a:solidFill>
              </a:rPr>
              <a:t>Multiple Trials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596896"/>
            <a:ext cx="10698480" cy="713232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2596896"/>
            <a:ext cx="54864" cy="7132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27614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76148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EEFF"/>
                </a:solidFill>
              </a:rPr>
              <a:t>Success or 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276148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EEFF"/>
                </a:solidFill>
              </a:rPr>
              <a:t>Count of Successes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346704"/>
            <a:ext cx="10698480" cy="713232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346704"/>
            <a:ext cx="54864" cy="7132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51129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51129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EEFF"/>
                </a:solidFill>
              </a:rPr>
              <a:t>Did it happen?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19" y="351129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EEFF"/>
                </a:solidFill>
              </a:rPr>
              <a:t>How many times?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096512"/>
            <a:ext cx="10698480" cy="713232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" y="4096512"/>
            <a:ext cx="54864" cy="7132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426110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Example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26110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EEFF"/>
                </a:solidFill>
              </a:rPr>
              <a:t>Will customer buy?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19" y="426110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EEFF"/>
                </a:solidFill>
              </a:rPr>
              <a:t>How many of 500 buy?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846320"/>
            <a:ext cx="10698480" cy="713232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1520" y="4846320"/>
            <a:ext cx="54864" cy="7132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501091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AI Example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501091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EEFF"/>
                </a:solidFill>
              </a:rPr>
              <a:t>Will email be opened?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19" y="501091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EEFF"/>
                </a:solidFill>
              </a:rPr>
              <a:t>How many of 1000 emails opened?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623560"/>
            <a:ext cx="10698480" cy="1024128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31520" y="5623560"/>
            <a:ext cx="73152" cy="102412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5696712"/>
            <a:ext cx="10424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💡  Poisson Distribution: Models number of events in a fixed interval — e.g. 25 calls/hour at a call centre.
Key question: How many times will an event occur? Used in: operations, cybersecurity, manufacturing.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Continuous Probability Distributions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7589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</a:rPr>
              <a:t>Uniform • Exponential • Normal — when outcomes are measurable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21208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73152" cy="2194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53619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1A40"/>
                </a:solidFill>
              </a:rPr>
              <a:t>⚖️  Uniform 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29968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5577"/>
                </a:solidFill>
              </a:rPr>
              <a:t>All outcomes have EQUAL chance of occurring.
A/B Testing: Every user equally likely to be assigned Version A or B.
Random sampling • Experiment design • Simulation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94760"/>
            <a:ext cx="5212080" cy="2697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3794760"/>
            <a:ext cx="73152" cy="269748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86791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1A40"/>
                </a:solidFill>
              </a:rPr>
              <a:t>📉  Exponential Distribution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4340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5577"/>
                </a:solidFill>
              </a:rPr>
              <a:t>Models TIME BETWEEN events (not count of events).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36592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5577"/>
                </a:solidFill>
              </a:rPr>
              <a:t>• Time between customer arrivals
• Time between machine failures
• Time between support tickets
• Time between fraud alerts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687568"/>
            <a:ext cx="4846320" cy="5943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5760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1A40"/>
                </a:solidFill>
              </a:rPr>
              <a:t>Poisson = How many?   Exponential = How long until next?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463040"/>
            <a:ext cx="5212080" cy="5230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1463040"/>
            <a:ext cx="73152" cy="5230368"/>
          </a:xfrm>
          <a:prstGeom prst="rect">
            <a:avLst/>
          </a:prstGeom>
          <a:solidFill>
            <a:srgbClr val="00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153619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1A40"/>
                </a:solidFill>
              </a:rPr>
              <a:t>📋  Distribution Summary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2029968"/>
            <a:ext cx="4846320" cy="41148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0" y="20756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Distribution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20756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0756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Business Example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2487168"/>
            <a:ext cx="4846320" cy="521207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257860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1A40"/>
                </a:solidFill>
              </a:rPr>
              <a:t>Bernoulli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5786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Discrete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25786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5577"/>
                </a:solidFill>
              </a:rPr>
              <a:t>Purchase/No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035808"/>
            <a:ext cx="4846320" cy="521207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75120" y="312724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1A40"/>
                </a:solidFill>
              </a:rPr>
              <a:t>Binomial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12724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Discrete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312724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5577"/>
                </a:solidFill>
              </a:rPr>
              <a:t>Email Responses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3584448"/>
            <a:ext cx="4846320" cy="521207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75120" y="3675887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1A40"/>
                </a:solidFill>
              </a:rPr>
              <a:t>Poisson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3675887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Discrete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3675887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5577"/>
                </a:solidFill>
              </a:rPr>
              <a:t>Calls/Hour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4133087"/>
            <a:ext cx="4846320" cy="521207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75120" y="4224527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1A40"/>
                </a:solidFill>
              </a:rPr>
              <a:t>Uniform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4224527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9F1C"/>
                </a:solidFill>
              </a:rPr>
              <a:t>Continuous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4224527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5577"/>
                </a:solidFill>
              </a:rPr>
              <a:t>A/B Testing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4681728"/>
            <a:ext cx="4846320" cy="521207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75120" y="477316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1A40"/>
                </a:solidFill>
              </a:rPr>
              <a:t>Exponential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47731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9F1C"/>
                </a:solidFill>
              </a:rPr>
              <a:t>Continuous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47731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5577"/>
                </a:solidFill>
              </a:rPr>
              <a:t>Time Between Arrivals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5230368"/>
            <a:ext cx="4846320" cy="521207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75120" y="532180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1A40"/>
                </a:solidFill>
              </a:rPr>
              <a:t>Normal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79" y="53218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9F1C"/>
                </a:solidFill>
              </a:rPr>
              <a:t>Continuous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53218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5577"/>
                </a:solidFill>
              </a:rPr>
              <a:t>Performance Scores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Histograms — Visualizing Data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</a:rPr>
              <a:t>The most important chart for understanding how data is spread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47120" cy="658368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73152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 histogram groups numerical data into bins (intervals) and shows how frequently values fall in each range — revealing the shape of the distribution.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84831"/>
            <a:ext cx="5212080" cy="4553712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084831"/>
            <a:ext cx="73152" cy="455371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15798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F1C"/>
                </a:solidFill>
              </a:rPr>
              <a:t>Example: Customer Orders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33472"/>
            <a:ext cx="4754880" cy="347472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6791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6791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Frequency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6791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035808"/>
            <a:ext cx="4754880" cy="530352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14553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10–19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14553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3108960"/>
            <a:ext cx="877824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3602736"/>
            <a:ext cx="4754880" cy="530352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3712463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20–29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712463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80" y="3675887"/>
            <a:ext cx="1170432" cy="38404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169663"/>
            <a:ext cx="4754880" cy="530352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42793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30–39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42793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6280" y="4242816"/>
            <a:ext cx="877824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539496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AACCEE"/>
                </a:solidFill>
              </a:rPr>
              <a:t>📌 Helps reveal: shape, clustering, outliers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8338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Excel: Insert → Charts → Histogram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2084831"/>
            <a:ext cx="2880360" cy="2084831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43600" y="2084831"/>
            <a:ext cx="288036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0" y="2221991"/>
            <a:ext cx="685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/>
              <a:t>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2834639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Symmetric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3255263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Balanced — both sides mirror each other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3657600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9BBDD"/>
                </a:solidFill>
              </a:rPr>
              <a:t>Employee performance scores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06840" y="2084831"/>
            <a:ext cx="2880360" cy="2084831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006840" y="2084831"/>
            <a:ext cx="2880360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104119" y="2221991"/>
            <a:ext cx="685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/>
              <a:t>➡️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2834639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9F1C"/>
                </a:solidFill>
              </a:rPr>
              <a:t>Positive Skew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3255263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Long tail to the RIGHT — most values small, few very large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3657600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9BBDD"/>
                </a:solidFill>
              </a:rPr>
              <a:t>Customer spending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4352544"/>
            <a:ext cx="2880360" cy="2084831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943600" y="4352544"/>
            <a:ext cx="2880360" cy="64008"/>
          </a:xfrm>
          <a:prstGeom prst="rect">
            <a:avLst/>
          </a:prstGeom>
          <a:solidFill>
            <a:srgbClr val="00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40880" y="4489704"/>
            <a:ext cx="685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/>
              <a:t>⬅️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5102352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B66"/>
                </a:solidFill>
              </a:rPr>
              <a:t>Negative Skew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5522976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Long tail to the LEFT — most values high, few very low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592531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9BBDD"/>
                </a:solidFill>
              </a:rPr>
              <a:t>Easy exam scores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06840" y="4352544"/>
            <a:ext cx="2880360" cy="2084831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006840" y="4352544"/>
            <a:ext cx="2880360" cy="64008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104119" y="4489704"/>
            <a:ext cx="685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/>
              <a:t>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5102352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444"/>
                </a:solidFill>
              </a:rPr>
              <a:t>Outlier Present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98280" y="5522976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Most clustered, one/two far away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98280" y="592531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9BBDD"/>
                </a:solidFill>
              </a:rPr>
              <a:t>Fraudulent transactions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Normal Distribution — The Bell Curve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7589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</a:rPr>
              <a:t>The most important distribution in statistics and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44752"/>
            <a:ext cx="11247120" cy="6858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44752"/>
            <a:ext cx="91440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51790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 symmetric, bell-shaped distribution where most observations cluster around the center and extreme values are rare.  Mean = Median = Mode.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5577840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64008" cy="12618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3957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1A40"/>
                </a:solidFill>
              </a:rPr>
              <a:t>🔔  Bell-Shaped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5577"/>
                </a:solidFill>
              </a:rPr>
              <a:t>Resembles a bell — most observations in the middle, fewer at edges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286000"/>
            <a:ext cx="5577840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2286000"/>
            <a:ext cx="64008" cy="12618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23957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1A40"/>
                </a:solidFill>
              </a:rPr>
              <a:t>⚖️  Symmetric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880360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5577"/>
                </a:solidFill>
              </a:rPr>
              <a:t>Left mirrors right — values above and below mean occur equally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03320"/>
            <a:ext cx="5577840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703320"/>
            <a:ext cx="64008" cy="12618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8130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1A40"/>
                </a:solidFill>
              </a:rPr>
              <a:t>🎯  Mean = Median = 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97680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5577"/>
                </a:solidFill>
              </a:rPr>
              <a:t>All three measures coincide at the center of distribution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703320"/>
            <a:ext cx="5577840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09360" y="3703320"/>
            <a:ext cx="64008" cy="12618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38130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1A40"/>
                </a:solidFill>
              </a:rPr>
              <a:t>🚫  Extreme Values Rare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297680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5577"/>
                </a:solidFill>
              </a:rPr>
              <a:t>Very high/low values occur infrequently in a normal dataset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257800"/>
            <a:ext cx="11247120" cy="1444752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5257800"/>
            <a:ext cx="91440" cy="14447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532180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F1C"/>
                </a:solidFill>
              </a:rPr>
              <a:t>🔑  Empirical Rule (68-95-99.7):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779008"/>
            <a:ext cx="3474720" cy="77724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19" y="583387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68%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59618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within 1 SD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5779008"/>
            <a:ext cx="3474720" cy="77724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80559" y="583387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9F1C"/>
                </a:solidFill>
              </a:rPr>
              <a:t>95%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59618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within 2 SD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59" y="5779008"/>
            <a:ext cx="3474720" cy="77724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599" y="583387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B66"/>
                </a:solidFill>
              </a:rPr>
              <a:t>99.7%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199" y="59618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within 3 SD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Normal Distribution — Business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</a:rPr>
              <a:t>Where the bell curve appears in real business and AI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98448"/>
            <a:ext cx="3703320" cy="2212848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98448"/>
            <a:ext cx="37033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463039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👤  Human Height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56815"/>
            <a:ext cx="3429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Most people are average height; very tall/short are rare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88336"/>
            <a:ext cx="3520440" cy="640080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761488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4D8"/>
                </a:solidFill>
              </a:rPr>
              <a:t>📌 HR sizing, ergonomics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98448"/>
            <a:ext cx="3703320" cy="2212848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298448"/>
            <a:ext cx="3703320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1463039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F1C"/>
                </a:solidFill>
              </a:rPr>
              <a:t>📝  Exam Scores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956815"/>
            <a:ext cx="3429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Most students score near average; very high/low are uncommon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2688336"/>
            <a:ext cx="3520440" cy="640080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2761488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4D8"/>
                </a:solidFill>
              </a:rPr>
              <a:t>📌 Education analytics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298448"/>
            <a:ext cx="3703320" cy="2212848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1298448"/>
            <a:ext cx="3703320" cy="73152"/>
          </a:xfrm>
          <a:prstGeom prst="rect">
            <a:avLst/>
          </a:prstGeom>
          <a:solidFill>
            <a:srgbClr val="00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60" y="1463039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B66"/>
                </a:solidFill>
              </a:rPr>
              <a:t>🏭  Manufacturing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956815"/>
            <a:ext cx="3429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Products close to spec; large deviations are flagged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2688336"/>
            <a:ext cx="3520440" cy="640080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0" y="2761488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4D8"/>
                </a:solidFill>
              </a:rPr>
              <a:t>📌 Quality control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721608"/>
            <a:ext cx="3703320" cy="2212848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5760" y="3721608"/>
            <a:ext cx="3703320" cy="73152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388620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A66FF"/>
                </a:solidFill>
              </a:rPr>
              <a:t>👔  Employee Performance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379976"/>
            <a:ext cx="3429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Most employees perform around average; stars and poor performers are rare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111496"/>
            <a:ext cx="3520440" cy="640080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5184648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4D8"/>
                </a:solidFill>
              </a:rPr>
              <a:t>📌 Performance reviews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3721608"/>
            <a:ext cx="3703320" cy="2212848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97680" y="3721608"/>
            <a:ext cx="3703320" cy="73152"/>
          </a:xfrm>
          <a:prstGeom prst="rect">
            <a:avLst/>
          </a:prstGeom>
          <a:solidFill>
            <a:srgbClr val="FF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34840" y="388620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8AA"/>
                </a:solidFill>
              </a:rPr>
              <a:t>💰  Sales Performance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4379976"/>
            <a:ext cx="3429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Most reps near target; outliers need attention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5111496"/>
            <a:ext cx="3520440" cy="640080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480560" y="5184648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4D8"/>
                </a:solidFill>
              </a:rPr>
              <a:t>📌 Sales management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3721608"/>
            <a:ext cx="3703320" cy="2212848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29600" y="3721608"/>
            <a:ext cx="3703320" cy="73152"/>
          </a:xfrm>
          <a:prstGeom prst="rect">
            <a:avLst/>
          </a:prstGeom>
          <a:solidFill>
            <a:srgbClr val="FFC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66760" y="388620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C44"/>
                </a:solidFill>
              </a:rPr>
              <a:t>🤖  AI Fraud Detection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4379976"/>
            <a:ext cx="3429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Normal transactions cluster together; outliers flagged as suspicious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5111496"/>
            <a:ext cx="3520440" cy="640080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12480" y="5184648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4D8"/>
                </a:solidFill>
              </a:rPr>
              <a:t>📌 Anomaly detection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6263640"/>
            <a:ext cx="11430000" cy="475488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640" y="632764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F1C"/>
                </a:solidFill>
              </a:rPr>
              <a:t>⚠️  Important: Not all datasets are normally distributed. Skewed, multi-modal, and irregular distributions also exist. Normal distribution is a benchmark.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Measures of Position — Quartiles &amp; Percentiles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7589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</a:rPr>
              <a:t>Where does a value stand relative to others?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44752"/>
            <a:ext cx="11247120" cy="6858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44752"/>
            <a:ext cx="91440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51790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Measures of Position tell us where a particular observation lies within a dataset. Key tool for ranking, segmentation, and benchmarking.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11247120" cy="384048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3500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Quartiles — Dividing data into 4 equal parts (each containing ~25% of observations)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16352"/>
            <a:ext cx="2176272" cy="56692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285292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335577"/>
                </a:solidFill>
              </a:rPr>
              <a:t>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2825496"/>
            <a:ext cx="2029968" cy="566928"/>
          </a:xfrm>
          <a:prstGeom prst="rect">
            <a:avLst/>
          </a:prstGeom>
          <a:solidFill>
            <a:srgbClr val="CC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35224" y="2834640"/>
            <a:ext cx="18928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00B4D8"/>
                </a:solidFill>
              </a:rPr>
              <a:t>Q1
25th %</a:t>
            </a:r>
            <a:r>
              <a:rPr sz="1100" b="1" i="0" dirty="0" err="1">
                <a:solidFill>
                  <a:srgbClr val="00B4D8"/>
                </a:solidFill>
              </a:rPr>
              <a:t>ile</a:t>
            </a:r>
            <a:endParaRPr sz="1100" b="1" i="0" dirty="0">
              <a:solidFill>
                <a:srgbClr val="00B4D8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882896" y="2834640"/>
            <a:ext cx="2112264" cy="566928"/>
          </a:xfrm>
          <a:prstGeom prst="rect">
            <a:avLst/>
          </a:prstGeom>
          <a:solidFill>
            <a:srgbClr val="FF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83480" y="2859786"/>
            <a:ext cx="185623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9F1C"/>
                </a:solidFill>
              </a:rPr>
              <a:t>Q2 / Median
50th %</a:t>
            </a:r>
            <a:r>
              <a:rPr sz="1100" b="1" i="0" dirty="0" err="1">
                <a:solidFill>
                  <a:srgbClr val="FF9F1C"/>
                </a:solidFill>
              </a:rPr>
              <a:t>ile</a:t>
            </a:r>
            <a:endParaRPr sz="1100" b="1" i="0" dirty="0">
              <a:solidFill>
                <a:srgbClr val="FF9F1C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104888" y="2834640"/>
            <a:ext cx="2121408" cy="566928"/>
          </a:xfrm>
          <a:prstGeom prst="rect">
            <a:avLst/>
          </a:prstGeom>
          <a:solidFill>
            <a:srgbClr val="CCF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78040" y="2852928"/>
            <a:ext cx="18105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B66"/>
                </a:solidFill>
              </a:rPr>
              <a:t>Q3
75th %ile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54312" y="2859786"/>
            <a:ext cx="2350008" cy="56692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0" y="285292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335577"/>
                </a:solidFill>
              </a:rPr>
              <a:t>100%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547872"/>
            <a:ext cx="356616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547872"/>
            <a:ext cx="73152" cy="1600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362102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Q1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362102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5577"/>
                </a:solidFill>
              </a:rPr>
              <a:t>25th Percentile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133087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1A40"/>
                </a:solidFill>
              </a:rPr>
              <a:t>25% below, 75% above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262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5577"/>
                </a:solidFill>
              </a:rPr>
              <a:t>📌 Identify lower performers / budget customers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3547872"/>
            <a:ext cx="356616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97680" y="3547872"/>
            <a:ext cx="73152" cy="16002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80560" y="362102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9F1C"/>
                </a:solidFill>
              </a:rPr>
              <a:t>Q2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62102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5577"/>
                </a:solidFill>
              </a:rPr>
              <a:t>50th Percentile = Median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133087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1A40"/>
                </a:solidFill>
              </a:rPr>
              <a:t>50% below, 50% above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45262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5577"/>
                </a:solidFill>
              </a:rPr>
              <a:t>📌 Center of the dataset — typical performance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3547872"/>
            <a:ext cx="356616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38160" y="3547872"/>
            <a:ext cx="73152" cy="1600200"/>
          </a:xfrm>
          <a:prstGeom prst="rect">
            <a:avLst/>
          </a:prstGeom>
          <a:solidFill>
            <a:srgbClr val="00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21040" y="362102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B66"/>
                </a:solidFill>
              </a:rPr>
              <a:t>Q3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62102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5577"/>
                </a:solidFill>
              </a:rPr>
              <a:t>75th Percentile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133087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1A40"/>
                </a:solidFill>
              </a:rPr>
              <a:t>75% below, 25% above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5262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5577"/>
                </a:solidFill>
              </a:rPr>
              <a:t>📌 Identify top performers / high-value customers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303520"/>
            <a:ext cx="1124712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7200" y="5303520"/>
            <a:ext cx="73152" cy="1417320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53766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1A40"/>
                </a:solidFill>
              </a:rPr>
              <a:t>📊  Percentiles — Divides data into 100 parts. P90 = better than 90% of observations.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5833872"/>
            <a:ext cx="1691640" cy="71323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85800" y="58795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25th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54480" y="5943600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5577"/>
                </a:solidFill>
              </a:rPr>
              <a:t>=Q1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8880" y="5833872"/>
            <a:ext cx="1691640" cy="71323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514600" y="58795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</a:rPr>
              <a:t>50th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83280" y="5943600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5577"/>
                </a:solidFill>
              </a:rPr>
              <a:t>=Median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97680" y="5833872"/>
            <a:ext cx="1691640" cy="71323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343400" y="58795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B66"/>
                </a:solidFill>
              </a:rPr>
              <a:t>75th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12080" y="5943600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5577"/>
                </a:solidFill>
              </a:rPr>
              <a:t>=Q3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26480" y="5833872"/>
            <a:ext cx="1691640" cy="71323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172200" y="58795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A66FF"/>
                </a:solidFill>
              </a:rPr>
              <a:t>90th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40880" y="5943600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5577"/>
                </a:solidFill>
              </a:rPr>
              <a:t>Top 10%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55279" y="5833872"/>
            <a:ext cx="1691640" cy="71323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001000" y="58795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444"/>
                </a:solidFill>
              </a:rPr>
              <a:t>95th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0" y="5943600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5577"/>
                </a:solidFill>
              </a:rPr>
              <a:t>Top 5%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84080" y="5833872"/>
            <a:ext cx="1691640" cy="71323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829800" y="58795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</a:rPr>
              <a:t>99th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98480" y="5943600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5577"/>
                </a:solidFill>
              </a:rPr>
              <a:t>Top 1%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Interquartile Range (IQR) &amp; Outlier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</a:rPr>
              <a:t>A systematic, objective method for identifying unusual observations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6400800" cy="804672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73152" cy="8046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89888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Formula:  IQR = Q3 − Q1   (measures spread of the MIDDLE 50% of data)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298448"/>
            <a:ext cx="4553712" cy="804672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0" y="1298448"/>
            <a:ext cx="73152" cy="80467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0" y="1389888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Advantage: NOT affected by extreme values — more robust than Range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40280"/>
            <a:ext cx="5212080" cy="205740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240280"/>
            <a:ext cx="73152" cy="20574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31343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444"/>
                </a:solidFill>
              </a:rPr>
              <a:t>⬇️  Lower 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4320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Lower Limit = Q1 − (1.5 × IQR)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821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AAFF"/>
                </a:solidFill>
              </a:rPr>
              <a:t>Any value BELOW this is a potential outlier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2240280"/>
            <a:ext cx="5212080" cy="205740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0" y="2240280"/>
            <a:ext cx="73152" cy="20574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0" y="231343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</a:rPr>
              <a:t>⬆️  Upper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74320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Upper Limit = Q3 + (1.5 × IQR)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1821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AAFF"/>
                </a:solidFill>
              </a:rPr>
              <a:t>Any value ABOVE this is a potential outlier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462272"/>
            <a:ext cx="5212080" cy="960120"/>
          </a:xfrm>
          <a:prstGeom prst="rect">
            <a:avLst/>
          </a:prstGeom>
          <a:solidFill>
            <a:srgbClr val="04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462272"/>
            <a:ext cx="73152" cy="960120"/>
          </a:xfrm>
          <a:prstGeom prst="rect">
            <a:avLst/>
          </a:prstGeom>
          <a:solidFill>
            <a:srgbClr val="00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535424"/>
            <a:ext cx="4937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 Why 1.5? A widely accepted statistical rule — works well in practice across industries. Focus on interpretation, not the derivation.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4462272"/>
            <a:ext cx="2907792" cy="105156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00" y="4462272"/>
            <a:ext cx="64008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08192" y="453542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🛒  Retail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08192" y="49377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Most spend ₹500–₹2,000. One customer: ₹75,000 → IQR flags as outlier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40" y="4462272"/>
            <a:ext cx="2907792" cy="105156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006840" y="4462272"/>
            <a:ext cx="64008" cy="105156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71432" y="453542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🏦  Banking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1432" y="49377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₹500–₹1,200 typical. ₹75,000 transaction → investigate for fraud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5632704"/>
            <a:ext cx="2907792" cy="105156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943600" y="5632704"/>
            <a:ext cx="64008" cy="1051560"/>
          </a:xfrm>
          <a:prstGeom prst="rect">
            <a:avLst/>
          </a:prstGeom>
          <a:solidFill>
            <a:srgbClr val="00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08192" y="570585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B66"/>
                </a:solidFill>
              </a:rPr>
              <a:t>🏥  Healthcare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08192" y="610819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Recovery: 7–14 days. One patient: 60 days → medical investigation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06840" y="5632704"/>
            <a:ext cx="2907792" cy="105156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006840" y="5632704"/>
            <a:ext cx="64008" cy="105156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71432" y="570585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444"/>
                </a:solidFill>
              </a:rPr>
              <a:t>🤖  AI / ML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71432" y="610819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Scores: 0.2–0.8. One score: 0.99 → significantly different customer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532120"/>
            <a:ext cx="5212080" cy="1143000"/>
          </a:xfrm>
          <a:prstGeom prst="rect">
            <a:avLst/>
          </a:prstGeom>
          <a:solidFill>
            <a:srgbClr val="3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7200" y="5532120"/>
            <a:ext cx="73152" cy="11430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5605272"/>
            <a:ext cx="49377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⚠️  Important Principle
An outlier is NOT necessarily an error. Always investigate before removing!
Outliers can represent: fraud • VIP customers • equipment failure • rare events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Boxplots — Visualizing Distribution &amp; Outliers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7589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</a:rPr>
              <a:t>A single chart that summarizes your entire dataset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44752"/>
            <a:ext cx="11247120" cy="621792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44752"/>
            <a:ext cx="91440" cy="6217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 Boxplot (Box-and-Whisker Plot) displays: Minimum • Q1 • Median • Q3 • Maximum — plus outliers as separate dots.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5577840" cy="4462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212848"/>
            <a:ext cx="73152" cy="44622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2860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1A40"/>
                </a:solidFill>
              </a:rPr>
              <a:t>Boxplot Components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575303"/>
            <a:ext cx="1463040" cy="54864"/>
          </a:xfrm>
          <a:prstGeom prst="rect">
            <a:avLst/>
          </a:prstGeom>
          <a:solidFill>
            <a:srgbClr val="33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0" y="3246120"/>
            <a:ext cx="54864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050791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35577"/>
                </a:solidFill>
              </a:rPr>
              <a:t>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050791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Q1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4050791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9F1C"/>
                </a:solidFill>
              </a:rPr>
              <a:t>Median
(Q2)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4050791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444"/>
                </a:solidFill>
              </a:rPr>
              <a:t>Outlier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2834640"/>
            <a:ext cx="5120640" cy="56692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29260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📦 Box = IQR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29260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5577"/>
                </a:solidFill>
              </a:rPr>
              <a:t>Width = spread of middle 50%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456432"/>
            <a:ext cx="5120640" cy="56692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35478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5577"/>
                </a:solidFill>
              </a:rPr>
              <a:t>〰️ Whiskers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35478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5577"/>
                </a:solidFill>
              </a:rPr>
              <a:t>Extend to last non-outlier value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078224"/>
            <a:ext cx="5120640" cy="56692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" y="4169663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444"/>
                </a:solidFill>
              </a:rPr>
              <a:t>🔴 Dots = Outliers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4169663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5577"/>
                </a:solidFill>
              </a:rPr>
              <a:t>Values beyond 1.5×IQR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700016"/>
            <a:ext cx="5120640" cy="56692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479145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F1C"/>
                </a:solidFill>
              </a:rPr>
              <a:t>➡️ Median near bottom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479145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5577"/>
                </a:solidFill>
              </a:rPr>
              <a:t>Suggests positive skewness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321808"/>
            <a:ext cx="5120640" cy="56692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" y="541324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B66"/>
                </a:solidFill>
              </a:rPr>
              <a:t>⬅️ Median near top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541324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5577"/>
                </a:solidFill>
              </a:rPr>
              <a:t>Suggests negative skewness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2212848"/>
            <a:ext cx="5394960" cy="4462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263640" y="2212848"/>
            <a:ext cx="73152" cy="446227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46520" y="22860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1A40"/>
                </a:solidFill>
              </a:rPr>
              <a:t>Business Applications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46520" y="2743200"/>
            <a:ext cx="5029200" cy="71323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446520" y="2743200"/>
            <a:ext cx="54864" cy="7132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01968" y="28163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1A40"/>
                </a:solidFill>
              </a:rPr>
              <a:t>👔  Employee Performance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1968" y="318211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5577"/>
                </a:solidFill>
              </a:rPr>
              <a:t>Compare Team A vs Team B — median, spread, outliers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46520" y="3520440"/>
            <a:ext cx="5029200" cy="71323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446520" y="3520440"/>
            <a:ext cx="54864" cy="71323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601968" y="35935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1A40"/>
                </a:solidFill>
              </a:rPr>
              <a:t>🛒  Customer Spending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01968" y="395935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5577"/>
                </a:solidFill>
              </a:rPr>
              <a:t>Regional comparison — which area spends more/varies more?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46520" y="4297680"/>
            <a:ext cx="5029200" cy="71323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446520" y="4297680"/>
            <a:ext cx="54864" cy="7132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601968" y="43708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1A40"/>
                </a:solidFill>
              </a:rPr>
              <a:t>🏭  Manufacturing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01968" y="473659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5577"/>
                </a:solidFill>
              </a:rPr>
              <a:t>Bolt dimensions — are products within spec? Any defects?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46520" y="5074920"/>
            <a:ext cx="5029200" cy="71323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446520" y="5074920"/>
            <a:ext cx="54864" cy="71323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601968" y="51480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1A40"/>
                </a:solidFill>
              </a:rPr>
              <a:t>🤖  AI Fraud Monitoring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01968" y="5513831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5577"/>
                </a:solidFill>
              </a:rPr>
              <a:t>Anomaly score distribution — flag suspicious transactions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46520" y="5852160"/>
            <a:ext cx="5029200" cy="71323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446520" y="5852160"/>
            <a:ext cx="54864" cy="7132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601968" y="59253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1A40"/>
                </a:solidFill>
              </a:rPr>
              <a:t>💰  Sales Analytics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01968" y="629107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5577"/>
                </a:solidFill>
              </a:rPr>
              <a:t>Rank reps — top quartile vs bottom quartile performers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Z-Scores — Measuring Distance from the Mean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</a:rPr>
              <a:t>How unusual is this value compared to the rest of the data?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6675120" cy="91440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73152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492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Formula:  Z = (x − μ) / σ
Where: x = observation  |  μ = mean  |  σ = standard deviation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1298448"/>
            <a:ext cx="4553712" cy="91440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06640" y="1298448"/>
            <a:ext cx="73152" cy="9144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0" y="1371600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Interpretation:
Z = 0  →  Exactly average
Positive Z  →  Above average
Negative Z  →  Below average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59152"/>
            <a:ext cx="5212080" cy="2487168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359152"/>
            <a:ext cx="73152" cy="24871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43230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Z-Score Interpretation Guide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852928"/>
            <a:ext cx="4754880" cy="32004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2898648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</a:rPr>
              <a:t>Z-Score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89864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Meaning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200400"/>
            <a:ext cx="4754880" cy="320040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255264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Z =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325526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Exactly average — typical value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547872"/>
            <a:ext cx="4754880" cy="32004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3602736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FFCC"/>
                </a:solidFill>
              </a:rPr>
              <a:t>Z = ±1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3602736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Common — within normal range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895344"/>
            <a:ext cx="4754880" cy="320040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3950207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F1C"/>
                </a:solidFill>
              </a:rPr>
              <a:t>Z = ±2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3950207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Unusual — worth noting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242816"/>
            <a:ext cx="4754880" cy="32004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429768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444"/>
                </a:solidFill>
              </a:rPr>
              <a:t>Z = ±3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429768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Very rare — likely needs investigation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590288"/>
            <a:ext cx="4754880" cy="320040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4645151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666"/>
                </a:solidFill>
              </a:rPr>
              <a:t>|Z| &gt;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4645151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Highly unusual — strong outlier signal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2359152"/>
            <a:ext cx="2907792" cy="164592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943600" y="2359152"/>
            <a:ext cx="73152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26480" y="246888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👔  Employee Performance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2926080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Mean=75, Score=95 → High Z → Exceptional performer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06840" y="2359152"/>
            <a:ext cx="2907792" cy="164592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006840" y="2359152"/>
            <a:ext cx="73152" cy="164592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89719" y="246888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</a:rPr>
              <a:t>🏦  Banking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19" y="2926080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Mean txn=₹2,000, One=₹75,000 → Very high Z → Investigate fraud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4187952"/>
            <a:ext cx="2907792" cy="164592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943600" y="4187952"/>
            <a:ext cx="73152" cy="1645920"/>
          </a:xfrm>
          <a:prstGeom prst="rect">
            <a:avLst/>
          </a:prstGeom>
          <a:solidFill>
            <a:srgbClr val="00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26480" y="429768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B66"/>
                </a:solidFill>
              </a:rPr>
              <a:t>🏭  Manufacturing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4654296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Mean weight=500g, One=650g → High Z → Quality defect?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06840" y="4187952"/>
            <a:ext cx="2907792" cy="164592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006840" y="4187952"/>
            <a:ext cx="73152" cy="16459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89719" y="429768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444"/>
                </a:solidFill>
              </a:rPr>
              <a:t>🤖  AI / ML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9719" y="4663440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</a:rPr>
              <a:t>Activity scores 40–60, One=98 → Extreme Z → Bot/fraud risk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184646"/>
            <a:ext cx="11247120" cy="1536193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 flipH="1">
            <a:off x="484504" y="5184646"/>
            <a:ext cx="54992" cy="1536194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03504" y="5184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AA66FF"/>
                </a:solidFill>
              </a:rPr>
              <a:t>IQR vs Z-Score — Which to Use?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" y="5532120"/>
            <a:ext cx="5029200" cy="914400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77240" y="55961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IQR Method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96188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Best for skewed data or when outliers already exist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0" y="5532120"/>
            <a:ext cx="5212080" cy="914400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080760" y="55961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Z-Score Method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80760" y="5961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Best for approximately normal data. Both methods together = greater confidence.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Measures of Shape — Skewness &amp; Kurtosis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7589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</a:rPr>
              <a:t>Direction of asymmetry and presence of extreme values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44752"/>
            <a:ext cx="11247120" cy="384048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📐  SKEWNESS — Measures asymmetry of the distribution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3566160" cy="2816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73152" cy="28163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199339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1A40"/>
                </a:solidFill>
              </a:rPr>
              <a:t>⚖️  Symmetric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5420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5577"/>
                </a:solidFill>
              </a:rPr>
              <a:t>No tail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542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Mean ≈ Median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926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1A40"/>
                </a:solidFill>
              </a:rPr>
              <a:t>Employee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42900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5577"/>
                </a:solidFill>
              </a:rPr>
              <a:t>Balanced shape — left mirrors right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920240"/>
            <a:ext cx="3566160" cy="2816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97680" y="1920240"/>
            <a:ext cx="73152" cy="28163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62272" y="199339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1A40"/>
                </a:solidFill>
              </a:rPr>
              <a:t>➡️  Positive Skew
(Right Skew)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25420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5577"/>
                </a:solidFill>
              </a:rPr>
              <a:t>Right tail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42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Mean &gt; Median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2926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1A40"/>
                </a:solidFill>
              </a:rPr>
              <a:t>Customer spending
Income distribution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342900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5577"/>
                </a:solidFill>
              </a:rPr>
              <a:t>Most values small; few very large values pull right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1920240"/>
            <a:ext cx="3566160" cy="2816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38160" y="1920240"/>
            <a:ext cx="73152" cy="2816352"/>
          </a:xfrm>
          <a:prstGeom prst="rect">
            <a:avLst/>
          </a:prstGeom>
          <a:solidFill>
            <a:srgbClr val="00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02752" y="199339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1A40"/>
                </a:solidFill>
              </a:rPr>
              <a:t>⬅️  Negative Skew
(Left Skew)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25420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5577"/>
                </a:solidFill>
              </a:rPr>
              <a:t>Left tail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2542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B66"/>
                </a:solidFill>
              </a:rPr>
              <a:t>Mean &lt; Median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2926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1A40"/>
                </a:solidFill>
              </a:rPr>
              <a:t>Easy exam scores
High performance ratings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342900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5577"/>
                </a:solidFill>
              </a:rPr>
              <a:t>Most values high; few small values pull left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892040"/>
            <a:ext cx="11247120" cy="384048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4956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</a:rPr>
              <a:t>📊  KURTOSIS — Measures presence of extreme values (tail heaviness)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413248"/>
            <a:ext cx="557784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7200" y="5413248"/>
            <a:ext cx="73152" cy="132588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54864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1A40"/>
                </a:solidFill>
              </a:rPr>
              <a:t>📈  High Kurtosis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9436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5577"/>
                </a:solidFill>
              </a:rPr>
              <a:t>More extreme values
Heavier tails
More outliers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548640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35577"/>
                </a:solidFill>
              </a:rPr>
              <a:t>📌 Financial markets
Fraud detection
Insurance claims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5413248"/>
            <a:ext cx="557784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309360" y="5413248"/>
            <a:ext cx="73152" cy="1325880"/>
          </a:xfrm>
          <a:prstGeom prst="rect">
            <a:avLst/>
          </a:prstGeom>
          <a:solidFill>
            <a:srgbClr val="00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92240" y="54864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1A40"/>
                </a:solidFill>
              </a:rPr>
              <a:t>📉  Low Kurtosis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9436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5577"/>
                </a:solidFill>
              </a:rPr>
              <a:t>Fewer extreme values
Lighter tails
More predictable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548640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35577"/>
                </a:solidFill>
              </a:rPr>
              <a:t>📌 Manufacturing QC
Stable processes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Skewness vs Kurtosis — Summary &amp; 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</a:rPr>
              <a:t>Shape measures reveal hidden patterns in data behavior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Measure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37160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What it Describes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3716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Key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3716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Business Application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10512"/>
            <a:ext cx="11064240" cy="713232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1810512"/>
            <a:ext cx="54864" cy="7132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9202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Skewness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9202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EFF"/>
                </a:solidFill>
              </a:rPr>
              <a:t>Direction of asymmetry — is data balanced?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9202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EFF"/>
                </a:solidFill>
              </a:rPr>
              <a:t>Which side is the tail?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0"/>
            <a:ext cx="3246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CCEEFF"/>
                </a:solidFill>
              </a:rPr>
              <a:t>Customer spending analysis, income distribution, </a:t>
            </a:r>
            <a:endParaRPr lang="en-US" sz="1200" b="0" i="0" dirty="0">
              <a:solidFill>
                <a:srgbClr val="CCEEFF"/>
              </a:solidFill>
            </a:endParaRPr>
          </a:p>
          <a:p>
            <a:pPr algn="ctr"/>
            <a:r>
              <a:rPr sz="1200" b="0" i="0" dirty="0">
                <a:solidFill>
                  <a:srgbClr val="CCEEFF"/>
                </a:solidFill>
              </a:rPr>
              <a:t>risk exposure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60320"/>
            <a:ext cx="11064240" cy="713232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2560320"/>
            <a:ext cx="54864" cy="71323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26700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Positive Skew
(Right)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67004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EFF"/>
                </a:solidFill>
              </a:rPr>
              <a:t>Tail on right — most values small, few very large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67004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EFF"/>
                </a:solidFill>
              </a:rPr>
              <a:t>Mean &gt; Median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670048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CCEEFF"/>
                </a:solidFill>
              </a:rPr>
              <a:t>High-value customer identification, </a:t>
            </a:r>
            <a:endParaRPr lang="en-US" sz="1200" b="0" i="0" dirty="0">
              <a:solidFill>
                <a:srgbClr val="CCEEFF"/>
              </a:solidFill>
            </a:endParaRPr>
          </a:p>
          <a:p>
            <a:pPr algn="ctr"/>
            <a:r>
              <a:rPr sz="1200" b="0" i="0" dirty="0">
                <a:solidFill>
                  <a:srgbClr val="CCEEFF"/>
                </a:solidFill>
              </a:rPr>
              <a:t>premium product analysis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310128"/>
            <a:ext cx="11064240" cy="713232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3310128"/>
            <a:ext cx="54864" cy="713232"/>
          </a:xfrm>
          <a:prstGeom prst="rect">
            <a:avLst/>
          </a:prstGeom>
          <a:solidFill>
            <a:srgbClr val="00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341985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Negative Skew
(Left)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41985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EFF"/>
                </a:solidFill>
              </a:rPr>
              <a:t>Tail on left — most values high, few very 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341985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EFF"/>
                </a:solidFill>
              </a:rPr>
              <a:t>Mean &lt; Median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419856"/>
            <a:ext cx="31362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EFF"/>
                </a:solidFill>
              </a:rPr>
              <a:t>Exam scoring, employee performance management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059935"/>
            <a:ext cx="11064240" cy="713232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4059935"/>
            <a:ext cx="54864" cy="713232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4169663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Kurtosis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4169663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EFF"/>
                </a:solidFill>
              </a:rPr>
              <a:t>Presence and weight of extreme values in tails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4169663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EFF"/>
                </a:solidFill>
              </a:rPr>
              <a:t>How extreme are the tails?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169663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CCEEFF"/>
                </a:solidFill>
              </a:rPr>
              <a:t>Financial risk, fraud detection, anomaly monitoring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809744"/>
            <a:ext cx="11064240" cy="713232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48640" y="4809744"/>
            <a:ext cx="54864" cy="713232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491947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High Kurtosis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491947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EFF"/>
                </a:solidFill>
              </a:rPr>
              <a:t>More extreme values — heavier tails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491947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EFF"/>
                </a:solidFill>
              </a:rPr>
              <a:t>Outliers more frequent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919472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CCEEFF"/>
                </a:solidFill>
              </a:rPr>
              <a:t>Fraud monitoring, cybersecurity, insurance risk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559552"/>
            <a:ext cx="11064240" cy="713232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48640" y="5559552"/>
            <a:ext cx="54864" cy="713232"/>
          </a:xfrm>
          <a:prstGeom prst="rect">
            <a:avLst/>
          </a:prstGeom>
          <a:solidFill>
            <a:srgbClr val="00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56692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Low Kurtosis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56692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EFF"/>
                </a:solidFill>
              </a:rPr>
              <a:t>Fewer extremes — lighter tails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56692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EFF"/>
                </a:solidFill>
              </a:rPr>
              <a:t>More predictable outcomes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5669280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EFF"/>
                </a:solidFill>
              </a:rPr>
              <a:t>Manufacturing QC, stable business processes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6382512"/>
            <a:ext cx="11064240" cy="36576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85800" y="643737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💡  Industry reality: Analysts visualize first, then interpret shape. The key skill is interpretation — not manual calculation.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Covariance — Understanding Joint Movement of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7589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</a:rPr>
              <a:t>The predecessor to correlation — measures direction of joint variable movement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44752"/>
            <a:ext cx="11247120" cy="621792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44752"/>
            <a:ext cx="91440" cy="6217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51790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Covariance measures how two variables change together — whether they move in the same or opposite direction.</a:t>
            </a:r>
          </a:p>
        </p:txBody>
      </p:sp>
      <p:sp>
        <p:nvSpPr>
          <p:cNvPr id="11" name="Card1Bg"/>
          <p:cNvSpPr/>
          <p:nvPr/>
        </p:nvSpPr>
        <p:spPr>
          <a:xfrm>
            <a:off x="457200" y="2212848"/>
            <a:ext cx="3566160" cy="4462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rd1TopBar"/>
          <p:cNvSpPr/>
          <p:nvPr/>
        </p:nvSpPr>
        <p:spPr>
          <a:xfrm>
            <a:off x="457200" y="2212848"/>
            <a:ext cx="3566160" cy="73152"/>
          </a:xfrm>
          <a:prstGeom prst="rect">
            <a:avLst/>
          </a:prstGeom>
          <a:solidFill>
            <a:srgbClr val="00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rd1Icon"/>
          <p:cNvSpPr txBox="1"/>
          <p:nvPr/>
        </p:nvSpPr>
        <p:spPr>
          <a:xfrm>
            <a:off x="1828800" y="2359152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/>
              <a:t>📈</a:t>
            </a:r>
          </a:p>
        </p:txBody>
      </p:sp>
      <p:sp>
        <p:nvSpPr>
          <p:cNvPr id="14" name="Card1Title"/>
          <p:cNvSpPr txBox="1"/>
          <p:nvPr/>
        </p:nvSpPr>
        <p:spPr>
          <a:xfrm>
            <a:off x="594360" y="30175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1A40"/>
                </a:solidFill>
              </a:rPr>
              <a:t>Positive Covariance</a:t>
            </a:r>
          </a:p>
        </p:txBody>
      </p:sp>
      <p:sp>
        <p:nvSpPr>
          <p:cNvPr id="15" name="Card1Sub"/>
          <p:cNvSpPr txBox="1"/>
          <p:nvPr/>
        </p:nvSpPr>
        <p:spPr>
          <a:xfrm>
            <a:off x="594360" y="358444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5577"/>
                </a:solidFill>
              </a:rPr>
              <a:t>Both variables move in the SAME direction</a:t>
            </a:r>
          </a:p>
        </p:txBody>
      </p:sp>
      <p:sp>
        <p:nvSpPr>
          <p:cNvPr id="16" name="Card1Body"/>
          <p:cNvSpPr txBox="1"/>
          <p:nvPr/>
        </p:nvSpPr>
        <p:spPr>
          <a:xfrm>
            <a:off x="594360" y="4041648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1A40"/>
                </a:solidFill>
              </a:rPr>
              <a:t>Training Hours ↑ → Performance ↑
Advertising ↑ → Sales ↑
Experience ↑ → Salary ↑</a:t>
            </a:r>
          </a:p>
        </p:txBody>
      </p:sp>
      <p:sp>
        <p:nvSpPr>
          <p:cNvPr id="17" name="Card1Footer"/>
          <p:cNvSpPr/>
          <p:nvPr/>
        </p:nvSpPr>
        <p:spPr>
          <a:xfrm>
            <a:off x="548640" y="5047488"/>
            <a:ext cx="3383280" cy="5943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ard1FooterTxt"/>
          <p:cNvSpPr txBox="1"/>
          <p:nvPr/>
        </p:nvSpPr>
        <p:spPr>
          <a:xfrm>
            <a:off x="640080" y="5102352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5577"/>
                </a:solidFill>
              </a:rPr>
              <a:t>→  As one increases, the other increases too</a:t>
            </a:r>
          </a:p>
        </p:txBody>
      </p:sp>
      <p:sp>
        <p:nvSpPr>
          <p:cNvPr id="19" name="Card2Bg"/>
          <p:cNvSpPr/>
          <p:nvPr/>
        </p:nvSpPr>
        <p:spPr>
          <a:xfrm>
            <a:off x="4297680" y="2212848"/>
            <a:ext cx="3566160" cy="4462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ard2TopBar"/>
          <p:cNvSpPr/>
          <p:nvPr/>
        </p:nvSpPr>
        <p:spPr>
          <a:xfrm>
            <a:off x="4297680" y="2212848"/>
            <a:ext cx="3566160" cy="73152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ard2Icon"/>
          <p:cNvSpPr txBox="1"/>
          <p:nvPr/>
        </p:nvSpPr>
        <p:spPr>
          <a:xfrm>
            <a:off x="5669280" y="2359152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/>
              <a:t>📉</a:t>
            </a:r>
          </a:p>
        </p:txBody>
      </p:sp>
      <p:sp>
        <p:nvSpPr>
          <p:cNvPr id="22" name="Card2Title"/>
          <p:cNvSpPr txBox="1"/>
          <p:nvPr/>
        </p:nvSpPr>
        <p:spPr>
          <a:xfrm>
            <a:off x="4434840" y="30175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1A40"/>
                </a:solidFill>
              </a:rPr>
              <a:t>Negative Covariance</a:t>
            </a:r>
          </a:p>
        </p:txBody>
      </p:sp>
      <p:sp>
        <p:nvSpPr>
          <p:cNvPr id="23" name="Card2Sub"/>
          <p:cNvSpPr txBox="1"/>
          <p:nvPr/>
        </p:nvSpPr>
        <p:spPr>
          <a:xfrm>
            <a:off x="4434840" y="358444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5577"/>
                </a:solidFill>
              </a:rPr>
              <a:t>Variables move in OPPOSITE directions</a:t>
            </a:r>
          </a:p>
        </p:txBody>
      </p:sp>
      <p:sp>
        <p:nvSpPr>
          <p:cNvPr id="24" name="Card2Body"/>
          <p:cNvSpPr txBox="1"/>
          <p:nvPr/>
        </p:nvSpPr>
        <p:spPr>
          <a:xfrm>
            <a:off x="4434840" y="4041648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1A40"/>
                </a:solidFill>
              </a:rPr>
              <a:t>Price ↑ → Demand ↓
Waiting Time ↑ → Satisfaction ↓</a:t>
            </a:r>
          </a:p>
        </p:txBody>
      </p:sp>
      <p:sp>
        <p:nvSpPr>
          <p:cNvPr id="25" name="Card2Footer"/>
          <p:cNvSpPr/>
          <p:nvPr/>
        </p:nvSpPr>
        <p:spPr>
          <a:xfrm>
            <a:off x="4389120" y="5047488"/>
            <a:ext cx="3383280" cy="5943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Card2FooterTxt"/>
          <p:cNvSpPr txBox="1"/>
          <p:nvPr/>
        </p:nvSpPr>
        <p:spPr>
          <a:xfrm>
            <a:off x="4480560" y="5102352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5577"/>
                </a:solidFill>
              </a:rPr>
              <a:t>→  As one increases, the other decreases</a:t>
            </a:r>
          </a:p>
        </p:txBody>
      </p:sp>
      <p:sp>
        <p:nvSpPr>
          <p:cNvPr id="27" name="Card3Bg"/>
          <p:cNvSpPr/>
          <p:nvPr/>
        </p:nvSpPr>
        <p:spPr>
          <a:xfrm>
            <a:off x="8138160" y="2212848"/>
            <a:ext cx="3566160" cy="4462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Card3TopBar"/>
          <p:cNvSpPr/>
          <p:nvPr/>
        </p:nvSpPr>
        <p:spPr>
          <a:xfrm>
            <a:off x="8138160" y="2212848"/>
            <a:ext cx="3566160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Card3Icon"/>
          <p:cNvSpPr txBox="1"/>
          <p:nvPr/>
        </p:nvSpPr>
        <p:spPr>
          <a:xfrm>
            <a:off x="9509760" y="2359152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/>
              <a:t>⚠️</a:t>
            </a:r>
          </a:p>
        </p:txBody>
      </p:sp>
      <p:sp>
        <p:nvSpPr>
          <p:cNvPr id="30" name="Card3Title"/>
          <p:cNvSpPr txBox="1"/>
          <p:nvPr/>
        </p:nvSpPr>
        <p:spPr>
          <a:xfrm>
            <a:off x="8275320" y="30175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1A40"/>
                </a:solidFill>
              </a:rPr>
              <a:t>Limitation of Covariance</a:t>
            </a:r>
          </a:p>
        </p:txBody>
      </p:sp>
      <p:sp>
        <p:nvSpPr>
          <p:cNvPr id="31" name="Card3Sub"/>
          <p:cNvSpPr txBox="1"/>
          <p:nvPr/>
        </p:nvSpPr>
        <p:spPr>
          <a:xfrm>
            <a:off x="8275320" y="358444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5577"/>
                </a:solidFill>
              </a:rPr>
              <a:t>Shows direction, NOT strength</a:t>
            </a:r>
          </a:p>
        </p:txBody>
      </p:sp>
      <p:sp>
        <p:nvSpPr>
          <p:cNvPr id="32" name="Card3Body"/>
          <p:cNvSpPr txBox="1"/>
          <p:nvPr/>
        </p:nvSpPr>
        <p:spPr>
          <a:xfrm>
            <a:off x="8275320" y="4041648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1A40"/>
                </a:solidFill>
              </a:rPr>
              <a:t>Value depends on units &amp; scale.
Cov = 25 vs Cov = 2,500 — which is stronger? Hard to tell.
Solution: Use Correlation (standardized)</a:t>
            </a:r>
          </a:p>
        </p:txBody>
      </p:sp>
      <p:sp>
        <p:nvSpPr>
          <p:cNvPr id="33" name="Card3Footer"/>
          <p:cNvSpPr/>
          <p:nvPr/>
        </p:nvSpPr>
        <p:spPr>
          <a:xfrm>
            <a:off x="8229600" y="5047488"/>
            <a:ext cx="3383280" cy="5943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Card3FooterTxt"/>
          <p:cNvSpPr txBox="1"/>
          <p:nvPr/>
        </p:nvSpPr>
        <p:spPr>
          <a:xfrm>
            <a:off x="8321040" y="5102352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5577"/>
                </a:solidFill>
              </a:rPr>
              <a:t>→  Correlation solves the scale problem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Correlation Analysis — Relationships Between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7589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</a:rPr>
              <a:t>Moving from one variable to understanding how variables move together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44752"/>
            <a:ext cx="11247120" cy="621792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44752"/>
            <a:ext cx="91440" cy="6217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51790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Correlation measures the STRENGTH and DIRECTION of the relationship between two variables — the foundation of predictive analytics.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3566160" cy="4462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212848"/>
            <a:ext cx="3566160" cy="73152"/>
          </a:xfrm>
          <a:prstGeom prst="rect">
            <a:avLst/>
          </a:prstGeom>
          <a:solidFill>
            <a:srgbClr val="00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28800" y="2359152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/>
              <a:t>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0175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1A40"/>
                </a:solidFill>
              </a:rPr>
              <a:t>Positive Correlation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58444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5577"/>
                </a:solidFill>
              </a:rPr>
              <a:t>Both variables move in the SAME direction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041648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1A40"/>
                </a:solidFill>
              </a:rPr>
              <a:t>Advertising ↑ → Sales ↑
Experience ↑ → Salary ↑
Study hours ↑ → Scores 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47488"/>
            <a:ext cx="3383280" cy="5943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102352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5577"/>
                </a:solidFill>
              </a:rPr>
              <a:t>→  As one increases, the other increases too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2212848"/>
            <a:ext cx="3566160" cy="4462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97680" y="2212848"/>
            <a:ext cx="3566160" cy="73152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0" y="2359152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/>
              <a:t>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0175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1A40"/>
                </a:solidFill>
              </a:rPr>
              <a:t>Negative Correlation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58444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5577"/>
                </a:solidFill>
              </a:rPr>
              <a:t>Variables move in OPPOSITE directions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041648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1A40"/>
                </a:solidFill>
              </a:rPr>
              <a:t>Price ↑ → Demand ↓
Waiting time ↑ → Satisfaction ↓
Defects ↑ → Quality 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5047488"/>
            <a:ext cx="3383280" cy="5943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80560" y="5102352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5577"/>
                </a:solidFill>
              </a:rPr>
              <a:t>→  As one increases, the other decreases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2212848"/>
            <a:ext cx="3566160" cy="4462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38160" y="2212848"/>
            <a:ext cx="3566160" cy="73152"/>
          </a:xfrm>
          <a:prstGeom prst="rect">
            <a:avLst/>
          </a:prstGeom>
          <a:solidFill>
            <a:srgbClr val="33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09760" y="2359152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/>
              <a:t>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0175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1A40"/>
                </a:solidFill>
              </a:rPr>
              <a:t>No Correlation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358444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5577"/>
                </a:solidFill>
              </a:rPr>
              <a:t>No meaningful relationship exists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041648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1A40"/>
                </a:solidFill>
              </a:rPr>
              <a:t>Shoe size vs Salary
Employee ID vs Performance
Hair color vs Revenue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5047488"/>
            <a:ext cx="3383280" cy="5943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21040" y="5102352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5577"/>
                </a:solidFill>
              </a:rPr>
              <a:t>→  Changes in one don't affect the other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Correlation Coefficient &amp; Scatter Plots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7589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</a:rPr>
              <a:t>Quantifying and visualizing the strength of relationships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44752"/>
            <a:ext cx="11247120" cy="2212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44752"/>
            <a:ext cx="73152" cy="22128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1A40"/>
                </a:solidFill>
              </a:rPr>
              <a:t>Correlation Coefficient (r) — Ranges from −1 to +1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65960"/>
            <a:ext cx="1417320" cy="148132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1965960"/>
            <a:ext cx="1417320" cy="64008"/>
          </a:xfrm>
          <a:prstGeom prst="rect">
            <a:avLst/>
          </a:prstGeom>
          <a:solidFill>
            <a:srgbClr val="00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084831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B66"/>
                </a:solidFill>
              </a:rPr>
              <a:t>+1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06040"/>
            <a:ext cx="1325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5577"/>
                </a:solidFill>
              </a:rPr>
              <a:t>Perfect Positive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12848" y="1965960"/>
            <a:ext cx="1417320" cy="148132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212848" y="1965960"/>
            <a:ext cx="1417320" cy="64008"/>
          </a:xfrm>
          <a:prstGeom prst="rect">
            <a:avLst/>
          </a:prstGeom>
          <a:solidFill>
            <a:srgbClr val="44B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58568" y="2084831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4BB44"/>
                </a:solidFill>
              </a:rPr>
              <a:t>+0.8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8568" y="2606040"/>
            <a:ext cx="1325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5577"/>
                </a:solidFill>
              </a:rPr>
              <a:t>Strong Positive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85615" y="1965960"/>
            <a:ext cx="1417320" cy="148132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785615" y="1965960"/>
            <a:ext cx="1417320" cy="64008"/>
          </a:xfrm>
          <a:prstGeom prst="rect">
            <a:avLst/>
          </a:prstGeom>
          <a:solidFill>
            <a:srgbClr val="99C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31335" y="2084831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9CC44"/>
                </a:solidFill>
              </a:rPr>
              <a:t>+0.5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31335" y="2606040"/>
            <a:ext cx="1325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5577"/>
                </a:solidFill>
              </a:rPr>
              <a:t>Moderate Positive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58384" y="1965960"/>
            <a:ext cx="1417320" cy="148132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358384" y="1965960"/>
            <a:ext cx="1417320" cy="64008"/>
          </a:xfrm>
          <a:prstGeom prst="rect">
            <a:avLst/>
          </a:prstGeom>
          <a:solidFill>
            <a:srgbClr val="33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04104" y="2084831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35577"/>
                </a:solidFill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4104" y="2606040"/>
            <a:ext cx="1325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5577"/>
                </a:solidFill>
              </a:rPr>
              <a:t>No Relationship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31152" y="1965960"/>
            <a:ext cx="1417320" cy="148132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931152" y="1965960"/>
            <a:ext cx="1417320" cy="64008"/>
          </a:xfrm>
          <a:prstGeom prst="rect">
            <a:avLst/>
          </a:prstGeom>
          <a:solidFill>
            <a:srgbClr val="FF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76872" y="2084831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AA44"/>
                </a:solidFill>
              </a:rPr>
              <a:t>-0.5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76872" y="2606040"/>
            <a:ext cx="1325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5577"/>
                </a:solidFill>
              </a:rPr>
              <a:t>Moderate Negative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3919" y="1965960"/>
            <a:ext cx="1417320" cy="148132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503919" y="1965960"/>
            <a:ext cx="1417320" cy="64008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49640" y="2084831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633"/>
                </a:solidFill>
              </a:rPr>
              <a:t>-0.8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2606040"/>
            <a:ext cx="1325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5577"/>
                </a:solidFill>
              </a:rPr>
              <a:t>Strong Negative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76688" y="1965960"/>
            <a:ext cx="1417320" cy="148132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076688" y="1965960"/>
            <a:ext cx="1417320" cy="64008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122408" y="2084831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4444"/>
                </a:solidFill>
              </a:rPr>
              <a:t>-1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22408" y="2606040"/>
            <a:ext cx="1325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5577"/>
                </a:solidFill>
              </a:rPr>
              <a:t>Perfect Negative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794760"/>
            <a:ext cx="5212080" cy="2907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57200" y="3794760"/>
            <a:ext cx="73152" cy="29077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386791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1A40"/>
                </a:solidFill>
              </a:rPr>
              <a:t>📊  Scatter Plot — Advertising vs Sales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315968"/>
            <a:ext cx="4754880" cy="347472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77240" y="4361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Advertising (₹K)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54680" y="43616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Sales (₹K)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4709160"/>
            <a:ext cx="4754880" cy="329184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77240" y="476402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1A40"/>
                </a:solidFill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54680" y="476402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B66"/>
                </a:solidFill>
              </a:rPr>
              <a:t>100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5056632"/>
            <a:ext cx="4754880" cy="329184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7240" y="51114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1A40"/>
                </a:solidFill>
              </a:rPr>
              <a:t>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54680" y="511149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B66"/>
                </a:solidFill>
              </a:rPr>
              <a:t>150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" y="5404104"/>
            <a:ext cx="4754880" cy="329184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7240" y="545896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1A40"/>
                </a:solidFill>
              </a:rPr>
              <a:t>30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54680" y="545896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B66"/>
                </a:solidFill>
              </a:rPr>
              <a:t>220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5751576"/>
            <a:ext cx="4754880" cy="329184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77240" y="580644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1A40"/>
                </a:solidFill>
              </a:rPr>
              <a:t>40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54680" y="58064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B66"/>
                </a:solidFill>
              </a:rPr>
              <a:t>280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" y="6099048"/>
            <a:ext cx="4754880" cy="329184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77240" y="61539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1A40"/>
                </a:solidFill>
              </a:rPr>
              <a:t>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54680" y="615391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B66"/>
                </a:solidFill>
              </a:rPr>
              <a:t>350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647395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📈 Pattern: Strong positive correlation visible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43600" y="3794760"/>
            <a:ext cx="5760720" cy="2907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943600" y="3794760"/>
            <a:ext cx="73152" cy="2907792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126480" y="386791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1A40"/>
                </a:solidFill>
              </a:rPr>
              <a:t>⚠️  Correlation ≠ Causation!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26480" y="43434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444"/>
                </a:solidFill>
              </a:rPr>
              <a:t>Classic Example: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0" y="4709160"/>
            <a:ext cx="5394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1A40"/>
                </a:solidFill>
              </a:rPr>
              <a:t>Ice Cream Sales ↑  and  Drowning Incidents ↑
Does ice cream cause drowning?  ❌  NO!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26480" y="555955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35577"/>
                </a:solidFill>
              </a:rPr>
              <a:t>Hidden factor: SUMMER WEATHER
(More people buy ice cream + more people swim)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26480" y="6126480"/>
            <a:ext cx="5394960" cy="457200"/>
          </a:xfrm>
          <a:prstGeom prst="rect">
            <a:avLst/>
          </a:prstGeom>
          <a:solidFill>
            <a:srgbClr val="FF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217920" y="619048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A4400"/>
                </a:solidFill>
              </a:rPr>
              <a:t>Correlation suggests a relationship. It does NOT prove cause and effect.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Correlation — Business &amp; AI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</a:rPr>
              <a:t>How correlation drives decisions across every industry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3703320" cy="269748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37033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49047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📣  Marketing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8424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Advertising spend vs Sales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04872"/>
            <a:ext cx="3429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Does more spending drive more revenue? Essential for budget allocation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44952"/>
            <a:ext cx="3520440" cy="731520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136391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4D8"/>
                </a:solidFill>
              </a:rPr>
              <a:t>💡 Business question answered 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325880"/>
            <a:ext cx="3703320" cy="269748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0" y="1325880"/>
            <a:ext cx="3703320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149047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</a:rPr>
              <a:t>👔  HR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98424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Training hours vs Performance scores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404872"/>
            <a:ext cx="3429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Does training investment improve employee output?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3044952"/>
            <a:ext cx="3520440" cy="731520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0560" y="3136391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4D8"/>
                </a:solidFill>
              </a:rPr>
              <a:t>💡 Business question answered 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325880"/>
            <a:ext cx="3703320" cy="269748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0" y="1325880"/>
            <a:ext cx="3703320" cy="73152"/>
          </a:xfrm>
          <a:prstGeom prst="rect">
            <a:avLst/>
          </a:prstGeom>
          <a:solidFill>
            <a:srgbClr val="00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66760" y="149047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B66"/>
                </a:solidFill>
              </a:rPr>
              <a:t>💰  Finance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198424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Risk vs Return on investments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404872"/>
            <a:ext cx="3429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Higher risk portfolios — do they yield higher returns?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3044952"/>
            <a:ext cx="3520440" cy="731520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3136391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4D8"/>
                </a:solidFill>
              </a:rPr>
              <a:t>💡 Business question answered 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251960"/>
            <a:ext cx="3703320" cy="269748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4251960"/>
            <a:ext cx="3703320" cy="73152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441655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A66FF"/>
                </a:solidFill>
              </a:rPr>
              <a:t>🏥  Healthcare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91032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Exercise vs Health outcomes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330952"/>
            <a:ext cx="3429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Does increased activity reduce illness occurrence?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971032"/>
            <a:ext cx="3520440" cy="731520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6062472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4D8"/>
                </a:solidFill>
              </a:rPr>
              <a:t>💡 Business question answered 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4251960"/>
            <a:ext cx="3703320" cy="269748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97680" y="4251960"/>
            <a:ext cx="3703320" cy="73152"/>
          </a:xfrm>
          <a:prstGeom prst="rect">
            <a:avLst/>
          </a:prstGeom>
          <a:solidFill>
            <a:srgbClr val="FF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34840" y="441655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8AA"/>
                </a:solidFill>
              </a:rPr>
              <a:t>🛒  Retail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491032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Waiting time vs Customer satisfaction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5330952"/>
            <a:ext cx="3429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Do longer queues reduce satisfaction scores?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0" y="5971032"/>
            <a:ext cx="3520440" cy="731520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80560" y="6062472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4D8"/>
                </a:solidFill>
              </a:rPr>
              <a:t>💡 Business question answered 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4251960"/>
            <a:ext cx="3703320" cy="269748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229600" y="4251960"/>
            <a:ext cx="3703320" cy="73152"/>
          </a:xfrm>
          <a:prstGeom prst="rect">
            <a:avLst/>
          </a:prstGeom>
          <a:solidFill>
            <a:srgbClr val="FFC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66760" y="441655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C44"/>
                </a:solidFill>
              </a:rPr>
              <a:t>🤖  AI &amp; Machine Learning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491032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Feature correlation for model building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5330952"/>
            <a:ext cx="3429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Identify which input variables predict the target outcome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21040" y="5971032"/>
            <a:ext cx="3520440" cy="731520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12480" y="6062472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4D8"/>
                </a:solidFill>
              </a:rPr>
              <a:t>💡 Business question answered ↑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8640" y="6510528"/>
            <a:ext cx="11155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9F1C"/>
                </a:solidFill>
              </a:rPr>
              <a:t>⚠️  Common mistake: Correlation proves causation ❌  |  A high r guarantees future results ❌  |  Ignoring outliers 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Day 3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B4D8"/>
                </a:solidFill>
              </a:rPr>
              <a:t>What we covered today: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11247120" cy="484632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89888"/>
            <a:ext cx="73152" cy="4846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📊  Why Distribution Matters: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46304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EFF"/>
                </a:solidFill>
              </a:rPr>
              <a:t>Same mean ≠ same behavior — Store A (consistent) vs Store B (volatile) 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15667"/>
            <a:ext cx="11247120" cy="484632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915667"/>
            <a:ext cx="73152" cy="48463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1988819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🎲  Random Variables: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988819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EFF"/>
                </a:solidFill>
              </a:rPr>
              <a:t>Discrete (countable) vs Continuous (measurable) — foundation of distributions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41448"/>
            <a:ext cx="11247120" cy="484632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441448"/>
            <a:ext cx="73152" cy="484632"/>
          </a:xfrm>
          <a:prstGeom prst="rect">
            <a:avLst/>
          </a:prstGeom>
          <a:solidFill>
            <a:srgbClr val="00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251460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📈  Probability Distributions: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25146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EFF"/>
                </a:solidFill>
              </a:rPr>
              <a:t>Bernoulli, Binomial, Poisson (discrete) • Uniform, Exponential, Normal (continuous)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967228"/>
            <a:ext cx="11247120" cy="484632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2967228"/>
            <a:ext cx="73152" cy="484632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304038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🔔  Normal Distribution: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304038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EFF"/>
                </a:solidFill>
              </a:rPr>
              <a:t>Bell curve, symmetry, Mean=Median=Mode, Empirical Rule: 68%-95%-99.7%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493008"/>
            <a:ext cx="11247120" cy="484632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493008"/>
            <a:ext cx="73152" cy="484632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356616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📊  Histograms: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356616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EFF"/>
                </a:solidFill>
              </a:rPr>
              <a:t>Visualize distribution shape — symmetric, positive skew, negative skew, outliers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018787"/>
            <a:ext cx="11247120" cy="484632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4018787"/>
            <a:ext cx="73152" cy="4846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4091939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📍  Quartiles &amp; Percentiles: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4091939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EFF"/>
                </a:solidFill>
              </a:rPr>
              <a:t>Q1(25%), Q2(50%), Q3(75%) — position measures for ranking and segmentation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544568"/>
            <a:ext cx="11247120" cy="484632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4544568"/>
            <a:ext cx="73152" cy="48463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461772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📦  IQR &amp; Boxplots: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461772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EFF"/>
                </a:solidFill>
              </a:rPr>
              <a:t>IQR = Q3−Q1, Outlier bounds = Q1±1.5×IQR, Boxplot summarizes 5-number summary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070348"/>
            <a:ext cx="11247120" cy="484632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7200" y="5070348"/>
            <a:ext cx="73152" cy="484632"/>
          </a:xfrm>
          <a:prstGeom prst="rect">
            <a:avLst/>
          </a:prstGeom>
          <a:solidFill>
            <a:srgbClr val="00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4360" y="514350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🔢  Z-Scores: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6120" y="514350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EFF"/>
                </a:solidFill>
              </a:rPr>
              <a:t>Z=(x−μ)/σ — how far from average. |Z|&gt;2 unusual, |Z|&gt;3 highly unusual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596127"/>
            <a:ext cx="11247120" cy="484632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57200" y="5596127"/>
            <a:ext cx="73152" cy="484632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" y="5669279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↕️  Skewness &amp; Kurtosis: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46120" y="5669279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EFF"/>
                </a:solidFill>
              </a:rPr>
              <a:t>Skewness = tail direction • Kurtosis = extreme value frequency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6121908"/>
            <a:ext cx="11247120" cy="484632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57200" y="6121908"/>
            <a:ext cx="73152" cy="484632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4360" y="619506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🔗  Correlation Analysis: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46120" y="6195060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EFF"/>
                </a:solidFill>
              </a:rPr>
              <a:t>r from −1 to +1 — strength and direction. Correlation ≠ Causation!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92240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See you in Day 4 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3064</Words>
  <Application>Microsoft Office PowerPoint</Application>
  <PresentationFormat>Custom</PresentationFormat>
  <Paragraphs>511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Ramya Murugesh</cp:lastModifiedBy>
  <cp:revision>3</cp:revision>
  <dcterms:created xsi:type="dcterms:W3CDTF">2013-01-27T09:14:16Z</dcterms:created>
  <dcterms:modified xsi:type="dcterms:W3CDTF">2026-06-15T12:15:26Z</dcterms:modified>
  <cp:category/>
</cp:coreProperties>
</file>