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7" r:id="rId20"/>
    <p:sldId id="278" r:id="rId21"/>
    <p:sldId id="279" r:id="rId22"/>
    <p:sldId id="280" r:id="rId23"/>
    <p:sldId id="274" r:id="rId24"/>
    <p:sldId id="275" r:id="rId25"/>
    <p:sldId id="276" r:id="rId2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88552" y="0"/>
            <a:ext cx="320040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B4D8"/>
                </a:solidFill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9144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Making Decisions
with Limited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B0D8F0"/>
                </a:solidFill>
              </a:rPr>
              <a:t>Sampling and Probability Foundations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0AACC"/>
                </a:solidFill>
              </a:rPr>
              <a:t>Population &amp; Sample  •  Sampling Methods  •  Bias &amp; Error  •  Probability</a:t>
            </a:r>
          </a:p>
        </p:txBody>
      </p:sp>
      <p:sp>
        <p:nvSpPr>
          <p:cNvPr id="10" name="Oval 9"/>
          <p:cNvSpPr/>
          <p:nvPr/>
        </p:nvSpPr>
        <p:spPr>
          <a:xfrm>
            <a:off x="10817352" y="914400"/>
            <a:ext cx="1828800" cy="1828800"/>
          </a:xfrm>
          <a:prstGeom prst="ellipse">
            <a:avLst/>
          </a:prstGeom>
          <a:solidFill>
            <a:srgbClr val="0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183112" y="3566160"/>
            <a:ext cx="1097280" cy="1097280"/>
          </a:xfrm>
          <a:prstGeom prst="ellipse">
            <a:avLst/>
          </a:prstGeom>
          <a:solidFill>
            <a:srgbClr val="0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365992" y="5577840"/>
            <a:ext cx="731520" cy="731520"/>
          </a:xfrm>
          <a:prstGeom prst="ellipse">
            <a:avLst/>
          </a:prstGeom>
          <a:solidFill>
            <a:srgbClr val="0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Why Can't We Collect All the Data?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7589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</a:rPr>
              <a:t>In an ideal world, every data point would be available — but reality is different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577840" cy="5029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64008" cy="2011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14904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🛒  E-Commerce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057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5577"/>
                </a:solidFill>
              </a:rPr>
              <a:t>10 million customers.
Survey all for delivery satisfaction?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011680"/>
            <a:ext cx="1463040" cy="457200"/>
          </a:xfrm>
          <a:prstGeom prst="rect">
            <a:avLst/>
          </a:prstGeom>
          <a:solidFill>
            <a:srgbClr val="FF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2066543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A4400"/>
                </a:solidFill>
              </a:rPr>
              <a:t>❌ Impractical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1417320"/>
            <a:ext cx="5577840" cy="5029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1417320"/>
            <a:ext cx="64008" cy="201168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73952" y="14904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🗳️  Election Poll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5577"/>
                </a:solidFill>
              </a:rPr>
              <a:t>Can pollsters ask every single voter?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1280" y="2011680"/>
            <a:ext cx="1463040" cy="457200"/>
          </a:xfrm>
          <a:prstGeom prst="rect">
            <a:avLst/>
          </a:prstGeom>
          <a:solidFill>
            <a:srgbClr val="FF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87000" y="2066543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A4400"/>
                </a:solidFill>
              </a:rPr>
              <a:t>❌ Impossible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5760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657600"/>
            <a:ext cx="5577840" cy="5029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657600"/>
            <a:ext cx="64008" cy="2011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" y="373075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🏥  Healthcare Research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42976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5577"/>
                </a:solidFill>
              </a:rPr>
              <a:t>Can researchers test every patient?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4251960"/>
            <a:ext cx="1463040" cy="457200"/>
          </a:xfrm>
          <a:prstGeom prst="rect">
            <a:avLst/>
          </a:prstGeom>
          <a:solidFill>
            <a:srgbClr val="FF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34840" y="430682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A4400"/>
                </a:solidFill>
              </a:rPr>
              <a:t>❌ Too costly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65760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09360" y="3657600"/>
            <a:ext cx="5577840" cy="5029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09360" y="3657600"/>
            <a:ext cx="64008" cy="201168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73952" y="373075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🤖  AI 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42976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5577"/>
                </a:solidFill>
              </a:rPr>
              <a:t>Manually inspect billions of training records?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41280" y="4251960"/>
            <a:ext cx="1463040" cy="457200"/>
          </a:xfrm>
          <a:prstGeom prst="rect">
            <a:avLst/>
          </a:prstGeom>
          <a:solidFill>
            <a:srgbClr val="FF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287000" y="430682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A4400"/>
                </a:solidFill>
              </a:rPr>
              <a:t>❌ Unfeasible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833872"/>
            <a:ext cx="11247120" cy="77724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7200" y="5833872"/>
            <a:ext cx="73152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58978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🎯  The Solution: Sampling — Studying a carefully chosen subset to make inferences about the whole population.
     Organizations need: Faster decisions  •  Lower costs  •  Practical methods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Population and 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</a:rPr>
              <a:t>The two core concepts of inferential statistics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03520" cy="498348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303520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73152" cy="4983480"/>
          </a:xfrm>
          <a:prstGeom prst="rect">
            <a:avLst/>
          </a:prstGeom>
          <a:solidFill>
            <a:srgbClr val="00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33502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1A40"/>
                </a:solidFill>
              </a:rPr>
              <a:t>🌍  Population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DDFF"/>
                </a:solidFill>
              </a:rPr>
              <a:t>The complete group being studied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9F1C"/>
                </a:solidFill>
              </a:rPr>
              <a:t>Symbol: N  (capital)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88920"/>
            <a:ext cx="4937760" cy="384048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834640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834640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Population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00400"/>
            <a:ext cx="4937760" cy="457200"/>
          </a:xfrm>
          <a:prstGeom prst="rect">
            <a:avLst/>
          </a:prstGeom>
          <a:solidFill>
            <a:srgbClr val="0F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26440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Customer Survey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26440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All Customers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675887"/>
            <a:ext cx="4937760" cy="457200"/>
          </a:xfrm>
          <a:prstGeom prst="rect">
            <a:avLst/>
          </a:prstGeom>
          <a:solidFill>
            <a:srgbClr val="0A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73989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Employee Survey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373989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All Employees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151376"/>
            <a:ext cx="4937760" cy="457200"/>
          </a:xfrm>
          <a:prstGeom prst="rect">
            <a:avLst/>
          </a:prstGeom>
          <a:solidFill>
            <a:srgbClr val="0F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21538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Election Poll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421538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All Voters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626864"/>
            <a:ext cx="4937760" cy="457200"/>
          </a:xfrm>
          <a:prstGeom prst="rect">
            <a:avLst/>
          </a:prstGeom>
          <a:solidFill>
            <a:srgbClr val="0A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469087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Product Inspection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469087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4D8"/>
                </a:solidFill>
              </a:rPr>
              <a:t>All Products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1663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EEFF"/>
                </a:solidFill>
              </a:rPr>
              <a:t>Example: A bank has 500,000 customers.
Population N = 500,000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1280160"/>
            <a:ext cx="5303520" cy="498348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0" y="1280160"/>
            <a:ext cx="5303520" cy="56692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0" y="1280160"/>
            <a:ext cx="73152" cy="4983480"/>
          </a:xfrm>
          <a:prstGeom prst="rect">
            <a:avLst/>
          </a:prstGeom>
          <a:solidFill>
            <a:srgbClr val="CC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0" y="133502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1A40"/>
                </a:solidFill>
              </a:rPr>
              <a:t>🔍  Sample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19385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DDFF"/>
                </a:solidFill>
              </a:rPr>
              <a:t>A subset selected from the population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35000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4D8"/>
                </a:solidFill>
              </a:rPr>
              <a:t>Symbol: n  (lowercase)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2788920"/>
            <a:ext cx="4754880" cy="1371600"/>
          </a:xfrm>
          <a:prstGeom prst="rect">
            <a:avLst/>
          </a:prstGeom>
          <a:solidFill>
            <a:srgbClr val="0F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20840" y="285292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Example: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32461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Population N = 500,000 customers
Sample n = 2,000 customers
Sample = 0.4% of population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297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</a:rPr>
              <a:t>Why Use Samples?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75488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Lower cost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102352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Faster results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5449824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Easier analysis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5797296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Faster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Population vs Sample — Key Differences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7589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</a:rPr>
              <a:t>Understanding when to use which 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10698480" cy="5029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Aspect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4630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Population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19" y="14630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965960"/>
            <a:ext cx="10698480" cy="62179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1965960"/>
            <a:ext cx="54864" cy="6217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084831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1A40"/>
                </a:solidFill>
              </a:rPr>
              <a:t>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084831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5577"/>
                </a:solidFill>
              </a:rPr>
              <a:t>Entire Group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2084831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5577"/>
                </a:solidFill>
              </a:rPr>
              <a:t>Subset of Group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624328"/>
            <a:ext cx="10698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2624328"/>
            <a:ext cx="54864" cy="6217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27432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1A40"/>
                </a:solidFill>
              </a:rPr>
              <a:t>Symbol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7432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5577"/>
                </a:solidFill>
              </a:rPr>
              <a:t>N  (capital)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27432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5577"/>
                </a:solidFill>
              </a:rPr>
              <a:t>n  (lowercase)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282696"/>
            <a:ext cx="10698480" cy="62179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3282696"/>
            <a:ext cx="54864" cy="6217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340156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1A40"/>
                </a:solidFill>
              </a:rPr>
              <a:t>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40156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5577"/>
                </a:solidFill>
              </a:rPr>
              <a:t>More Expensive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19" y="340156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5577"/>
                </a:solidFill>
              </a:rPr>
              <a:t>Less Expensive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941064"/>
            <a:ext cx="10698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1520" y="3941064"/>
            <a:ext cx="54864" cy="6217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405993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1A40"/>
                </a:solidFill>
              </a:rPr>
              <a:t>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05993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5577"/>
                </a:solidFill>
              </a:rPr>
              <a:t>Complete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19" y="405993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5577"/>
                </a:solidFill>
              </a:rPr>
              <a:t>Partial Data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599431"/>
            <a:ext cx="10698480" cy="62179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31520" y="4599431"/>
            <a:ext cx="54864" cy="6217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4718303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1A40"/>
                </a:solidFill>
              </a:rPr>
              <a:t>Speed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4718303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5577"/>
                </a:solidFill>
              </a:rPr>
              <a:t>Slower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19" y="4718303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5577"/>
                </a:solidFill>
              </a:rPr>
              <a:t>Faster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303520"/>
            <a:ext cx="11247120" cy="1371600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57200" y="5303520"/>
            <a:ext cx="73152" cy="13716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53675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1A40"/>
                </a:solidFill>
              </a:rPr>
              <a:t>🎯  Activity — Identify Population and Sample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8064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1A40"/>
                </a:solidFill>
              </a:rPr>
              <a:t>  1.  University surveys 500 students from 5,000 students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080759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1A40"/>
                </a:solidFill>
              </a:rPr>
              <a:t>  2.  Company surveys 100 employees from 2,000 employees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355079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1A40"/>
                </a:solidFill>
              </a:rPr>
              <a:t>  3.  Food delivery surveys 1,500 customers from 1 million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Parameter and Statistic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</a:rPr>
              <a:t>The bridge between samples and populations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03520" cy="402336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303520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3502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1A40"/>
                </a:solidFill>
              </a:rPr>
              <a:t>📐  Parameter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852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DDFF"/>
                </a:solidFill>
              </a:rPr>
              <a:t>A numerical measure describing a population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Characteristics: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Usually unknown — hard to measure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Fixed value for a given population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576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Denoted by Greek letters (μ, σ)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Examples: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2628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EFF"/>
                </a:solidFill>
              </a:rPr>
              <a:t>  ✓  Population Mean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EFF"/>
                </a:solidFill>
              </a:rPr>
              <a:t>  ✓  Population Variance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6636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EFF"/>
                </a:solidFill>
              </a:rPr>
              <a:t>  ✓  Population Std Deviation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280160"/>
            <a:ext cx="5303520" cy="402336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1280160"/>
            <a:ext cx="5303520" cy="56692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133502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1A40"/>
                </a:solidFill>
              </a:rPr>
              <a:t>📊  Statistic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93852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DDFF"/>
                </a:solidFill>
              </a:rPr>
              <a:t>A numerical measure calculated from a sample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4231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Characteristics: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83464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Calculated from sample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24612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Changes across different samples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6576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Used to estimate parameters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1148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Examples: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52628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EFF"/>
                </a:solidFill>
              </a:rPr>
              <a:t>  ✓  Sample Mean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84632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EFF"/>
                </a:solidFill>
              </a:rPr>
              <a:t>  ✓  Sample Variance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16636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EFF"/>
                </a:solidFill>
              </a:rPr>
              <a:t>  ✓  Sample Std Deviation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440680"/>
            <a:ext cx="11247120" cy="1207008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5440680"/>
            <a:ext cx="73152" cy="1207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550468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</a:rPr>
              <a:t>💡  Why It Matters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978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Population parameters are usually unknown. Organizations use sample statistics to estimate them.
This is the core idea behind inferential statistics.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Parameter vs Statistic — Quick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7589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</a:rPr>
              <a:t>Key distinctions every data professional should know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10698480" cy="5029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Aspect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4630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Parameter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19" y="14630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Statistic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965960"/>
            <a:ext cx="10698480" cy="62179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1965960"/>
            <a:ext cx="54864" cy="6217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084831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1A40"/>
                </a:solidFill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084831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5577"/>
                </a:solidFill>
              </a:rPr>
              <a:t>Population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2084831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5577"/>
                </a:solidFill>
              </a:rPr>
              <a:t>Sample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624328"/>
            <a:ext cx="10698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2624328"/>
            <a:ext cx="54864" cy="6217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27432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1A40"/>
                </a:solidFill>
              </a:rPr>
              <a:t>Availability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7432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5577"/>
                </a:solidFill>
              </a:rPr>
              <a:t>Usually Unknown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27432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5577"/>
                </a:solidFill>
              </a:rPr>
              <a:t>Calculated from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282696"/>
            <a:ext cx="10698480" cy="62179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3282696"/>
            <a:ext cx="54864" cy="6217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340156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1A40"/>
                </a:solidFill>
              </a:rPr>
              <a:t>Stability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40156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5577"/>
                </a:solidFill>
              </a:rPr>
              <a:t>Fixed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19" y="340156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5577"/>
                </a:solidFill>
              </a:rPr>
              <a:t>Changes across samples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941064"/>
            <a:ext cx="10698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1520" y="3941064"/>
            <a:ext cx="54864" cy="6217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405993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1A40"/>
                </a:solidFill>
              </a:rPr>
              <a:t>Purpose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05993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5577"/>
                </a:solidFill>
              </a:rPr>
              <a:t>True measure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19" y="405993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5577"/>
                </a:solidFill>
              </a:rPr>
              <a:t>Estimate of parameter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599431"/>
            <a:ext cx="10698480" cy="62179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31520" y="4599431"/>
            <a:ext cx="54864" cy="6217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4718303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1A40"/>
                </a:solidFill>
              </a:rPr>
              <a:t>Notation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4718303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5577"/>
                </a:solidFill>
              </a:rPr>
              <a:t>Greek letters (μ, σ, ρ)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19" y="4718303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5577"/>
                </a:solidFill>
              </a:rPr>
              <a:t>Roman letters (x̄, s, r)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303520"/>
            <a:ext cx="11247120" cy="13716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57200" y="5303520"/>
            <a:ext cx="73152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53675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Real-World Example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7607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Parameter: Average salary of ALL 50,000 employees at a company — we rarely know this exactly.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08076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DDFF"/>
                </a:solidFill>
              </a:rPr>
              <a:t>Statistic: Average salary of 500 selected employees — we calculate this and use it to estimate the parameter.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Census vs Sampling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</a:rPr>
              <a:t>Two approaches to data collection — each with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03520" cy="502920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303520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3502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1A40"/>
                </a:solidFill>
              </a:rPr>
              <a:t>📋  Census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DDFF"/>
                </a:solidFill>
              </a:rPr>
              <a:t>Collect data from every 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Examples: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→  National Population Census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821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→  Complete Inventory 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611880"/>
            <a:ext cx="4937760" cy="1188720"/>
          </a:xfrm>
          <a:prstGeom prst="rect">
            <a:avLst/>
          </a:prstGeom>
          <a:solidFill>
            <a:srgbClr val="04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675887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E90"/>
                </a:solidFill>
              </a:rPr>
              <a:t>✅  Advantages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6908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Highly accurate  •  Complete information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892040"/>
            <a:ext cx="4937760" cy="1188720"/>
          </a:xfrm>
          <a:prstGeom prst="rect">
            <a:avLst/>
          </a:prstGeom>
          <a:solidFill>
            <a:srgbClr val="4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95604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888"/>
                </a:solidFill>
              </a:rPr>
              <a:t>❌  Disadvantages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34924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Expensive  •  Slow  •  Resource intensive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280160"/>
            <a:ext cx="5303520" cy="502920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0" y="1280160"/>
            <a:ext cx="5303520" cy="56692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133502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1A40"/>
                </a:solidFill>
              </a:rPr>
              <a:t>🔍  Sampling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1965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DDFF"/>
                </a:solidFill>
              </a:rPr>
              <a:t>Collect data from a subset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4231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Examples: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834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→  Customer satisfaction surveys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1821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→  Product quality testing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3611880"/>
            <a:ext cx="4937760" cy="1188720"/>
          </a:xfrm>
          <a:prstGeom prst="rect">
            <a:avLst/>
          </a:prstGeom>
          <a:solidFill>
            <a:srgbClr val="04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20840" y="3675887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E90"/>
                </a:solidFill>
              </a:rPr>
              <a:t>✅  Advantages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406908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Faster  •  Cheaper  •  Easier to manage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4892040"/>
            <a:ext cx="4937760" cy="1188720"/>
          </a:xfrm>
          <a:prstGeom prst="rect">
            <a:avLst/>
          </a:prstGeom>
          <a:solidFill>
            <a:srgbClr val="4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20840" y="495604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888"/>
                </a:solidFill>
              </a:rPr>
              <a:t>❌  Disadvantages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534924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May contain errors  •  Risk of bias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Sampling 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7589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</a:rPr>
              <a:t>Two broad categories — chosen based on study goals and resources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47120" cy="658368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Sampling methods are broadly classified into: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12848"/>
            <a:ext cx="530352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5303520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212848"/>
            <a:ext cx="73152" cy="4434840"/>
          </a:xfrm>
          <a:prstGeom prst="rect">
            <a:avLst/>
          </a:prstGeom>
          <a:solidFill>
            <a:srgbClr val="00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27685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1A40"/>
                </a:solidFill>
              </a:rPr>
              <a:t>1️⃣  Probability Sampling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5292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5577"/>
                </a:solidFill>
              </a:rPr>
              <a:t>Every member has a KNOWN chance of selection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461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5577"/>
                </a:solidFill>
              </a:rPr>
              <a:t>Used when results must represent the population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49039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1A40"/>
                </a:solidFill>
              </a:rPr>
              <a:t>Methods: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160520"/>
            <a:ext cx="4937760" cy="38404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206240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1A40"/>
                </a:solidFill>
              </a:rPr>
              <a:t>A.  Simple Random Sampling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572000"/>
            <a:ext cx="4937760" cy="38404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617720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1A40"/>
                </a:solidFill>
              </a:rPr>
              <a:t>B.  Systematic Sampling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983480"/>
            <a:ext cx="4937760" cy="38404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5029200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1A40"/>
                </a:solidFill>
              </a:rPr>
              <a:t>C.  Stratified Sampling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394960"/>
            <a:ext cx="4937760" cy="38404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440679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1A40"/>
                </a:solidFill>
              </a:rPr>
              <a:t>D.  Cluster Sampling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212848"/>
            <a:ext cx="530352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2212848"/>
            <a:ext cx="5303520" cy="56692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0" y="2212848"/>
            <a:ext cx="73152" cy="4434840"/>
          </a:xfrm>
          <a:prstGeom prst="rect">
            <a:avLst/>
          </a:prstGeom>
          <a:solidFill>
            <a:srgbClr val="CC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227685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1A40"/>
                </a:solidFill>
              </a:rPr>
              <a:t>2️⃣  Non-Probability Sampling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85292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5577"/>
                </a:solidFill>
              </a:rPr>
              <a:t>Selection is NOT random — no known chance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2461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5577"/>
                </a:solidFill>
              </a:rPr>
              <a:t>Faster and cheaper, but higher risk of bias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749039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1A40"/>
                </a:solidFill>
              </a:rPr>
              <a:t>Methods: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4160520"/>
            <a:ext cx="4937760" cy="38404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20840" y="4206240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1A40"/>
                </a:solidFill>
              </a:rPr>
              <a:t>A.  Convenience Sampling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4572000"/>
            <a:ext cx="4937760" cy="38404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20840" y="4617720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1A40"/>
                </a:solidFill>
              </a:rPr>
              <a:t>B.  Judgmental / Purposive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4983480"/>
            <a:ext cx="4937760" cy="38404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20840" y="5029200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1A40"/>
                </a:solidFill>
              </a:rPr>
              <a:t>C.  Quota Sampling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5394960"/>
            <a:ext cx="4937760" cy="38404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20840" y="5440679"/>
            <a:ext cx="4709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1A40"/>
                </a:solidFill>
              </a:rPr>
              <a:t>D.  Snowball Sampling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Probability Sampling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</a:rPr>
              <a:t>Every member has a known, non-zero chance of being selected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5577840" cy="233172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557784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298448"/>
            <a:ext cx="457200" cy="2331720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2029967"/>
            <a:ext cx="3840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38988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Simple Random
Sampling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956815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Every individual has equal chance of 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414015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EFF"/>
                </a:solidFill>
              </a:rPr>
              <a:t>📌 Randomly selecting 100 employees from 5,000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834639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9BBDD"/>
                </a:solidFill>
              </a:rPr>
              <a:t>🏢 Customer satisfaction surveys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298448"/>
            <a:ext cx="5577840" cy="233172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298448"/>
            <a:ext cx="5577840" cy="9144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1298448"/>
            <a:ext cx="457200" cy="2331720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82512" y="2029967"/>
            <a:ext cx="3840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9F1C"/>
                </a:solidFill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38988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9F1C"/>
                </a:solidFill>
              </a:rPr>
              <a:t>Systematic
Sampling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1956815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Select every nth observation from a 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414015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EFF"/>
                </a:solidFill>
              </a:rPr>
              <a:t>📌 Every 50th customer entering a 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834639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9BBDD"/>
                </a:solidFill>
              </a:rPr>
              <a:t>🏢 Airport passenger surveys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858768"/>
            <a:ext cx="5577840" cy="233172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858768"/>
            <a:ext cx="5577840" cy="91440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858768"/>
            <a:ext cx="457200" cy="2331720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4590288"/>
            <a:ext cx="3840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0EE90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950207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0EE90"/>
                </a:solidFill>
              </a:rPr>
              <a:t>Stratified
Sampling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517136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Divide into groups; sample from each group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974336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EFF"/>
                </a:solidFill>
              </a:rPr>
              <a:t>📌 Select from HR, Finance, Sales, IT departments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394959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9BBDD"/>
                </a:solidFill>
              </a:rPr>
              <a:t>🏢 Ensuring all departments are represented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858768"/>
            <a:ext cx="5577840" cy="233172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09360" y="3858768"/>
            <a:ext cx="5577840" cy="91440"/>
          </a:xfrm>
          <a:prstGeom prst="rect">
            <a:avLst/>
          </a:prstGeom>
          <a:solidFill>
            <a:srgbClr val="FFA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09360" y="3858768"/>
            <a:ext cx="457200" cy="2331720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82512" y="4590288"/>
            <a:ext cx="3840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AA88"/>
                </a:solidFill>
              </a:rPr>
              <a:t>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3950207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AA88"/>
                </a:solidFill>
              </a:rPr>
              <a:t>Cluster
Sampling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4517136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Divide into clusters; select entire clusters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974336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EFF"/>
                </a:solidFill>
              </a:rPr>
              <a:t>📌 Pick 10 stores; survey everyone in those stores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5394959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9BBDD"/>
                </a:solidFill>
              </a:rPr>
              <a:t>🏢 Large geographic studies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Non-Probability Sampling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7589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</a:rPr>
              <a:t>Selection is not random — not every individual has a known chance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577840" cy="2176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557784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73152" cy="21762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554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1A40"/>
                </a:solidFill>
              </a:rPr>
              <a:t>A — Convenience Sampling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8483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5577"/>
                </a:solidFill>
              </a:rPr>
              <a:t>Select whoever is easiest to reach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1A40"/>
                </a:solidFill>
              </a:rPr>
              <a:t>📌 Example: Surveying students in a cafeteria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443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5577"/>
                </a:solidFill>
              </a:rPr>
              <a:t>🏢 Website feedback popups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463040"/>
            <a:ext cx="5577840" cy="2176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1463040"/>
            <a:ext cx="5577840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1463040"/>
            <a:ext cx="73152" cy="217627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554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1A40"/>
                </a:solidFill>
              </a:rPr>
              <a:t>B — Judgmental (Purposive)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08483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5577"/>
                </a:solidFill>
              </a:rPr>
              <a:t>Researcher chooses specific participants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1A40"/>
                </a:solidFill>
              </a:rPr>
              <a:t>📌 Example: Interviewing experienced AI professionals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9443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5577"/>
                </a:solidFill>
              </a:rPr>
              <a:t>🏢 Expert opinion studies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840480"/>
            <a:ext cx="5577840" cy="2176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840480"/>
            <a:ext cx="5577840" cy="73152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840480"/>
            <a:ext cx="73152" cy="2176272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39319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1A40"/>
                </a:solidFill>
              </a:rPr>
              <a:t>C — Quota Sampling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4622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5577"/>
                </a:solidFill>
              </a:rPr>
              <a:t>Fill specific quotas per category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9194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1A40"/>
                </a:solidFill>
              </a:rPr>
              <a:t>📌 Example: 50 males and 50 females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3218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5577"/>
                </a:solidFill>
              </a:rPr>
              <a:t>🏢 Marketing research with target demographics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840480"/>
            <a:ext cx="5577840" cy="2176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09360" y="3840480"/>
            <a:ext cx="5577840" cy="73152"/>
          </a:xfrm>
          <a:prstGeom prst="rect">
            <a:avLst/>
          </a:prstGeom>
          <a:solidFill>
            <a:srgbClr val="FFA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09360" y="3840480"/>
            <a:ext cx="73152" cy="2176272"/>
          </a:xfrm>
          <a:prstGeom prst="rect">
            <a:avLst/>
          </a:prstGeom>
          <a:solidFill>
            <a:srgbClr val="FFA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39319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1A40"/>
                </a:solidFill>
              </a:rPr>
              <a:t>D — Snowball Sampling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4622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5577"/>
                </a:solidFill>
              </a:rPr>
              <a:t>Participants refer additional participants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9194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1A40"/>
                </a:solidFill>
              </a:rPr>
              <a:t>📌 Example: Startup founder surveys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3218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5577"/>
                </a:solidFill>
              </a:rPr>
              <a:t>🏢 Hard-to-reach or niche communities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Probability vs Non-Probability Sampling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</a:rPr>
              <a:t>Choosing the right method depends on your goals and resources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98448"/>
            <a:ext cx="10881360" cy="5029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19" y="1344168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Aspect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34416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B4D8"/>
                </a:solidFill>
              </a:rPr>
              <a:t>Probability Sampling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34416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9F1C"/>
                </a:solidFill>
              </a:rPr>
              <a:t>Non-Probability Sampling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47088"/>
            <a:ext cx="10881360" cy="62179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847088"/>
            <a:ext cx="54864" cy="6217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19" y="1965960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1A40"/>
                </a:solidFill>
              </a:rPr>
              <a:t>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9659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5577"/>
                </a:solidFill>
              </a:rPr>
              <a:t>Random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9659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5577"/>
                </a:solidFill>
              </a:rPr>
              <a:t>Non-Random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505456"/>
            <a:ext cx="108813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2505456"/>
            <a:ext cx="54864" cy="6217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19" y="2624328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1A40"/>
                </a:solidFill>
              </a:rPr>
              <a:t>Bias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62432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5577"/>
                </a:solidFill>
              </a:rPr>
              <a:t>Lower Bias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62432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5577"/>
                </a:solidFill>
              </a:rPr>
              <a:t>Higher Bias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163824"/>
            <a:ext cx="10881360" cy="62179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163824"/>
            <a:ext cx="54864" cy="6217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19" y="3282696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1A40"/>
                </a:solidFill>
              </a:rPr>
              <a:t>Representation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28269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5577"/>
                </a:solidFill>
              </a:rPr>
              <a:t>Better Representation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28269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5577"/>
                </a:solidFill>
              </a:rPr>
              <a:t>Faster &amp; Cheaper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822191"/>
            <a:ext cx="108813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" y="3822191"/>
            <a:ext cx="54864" cy="6217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19" y="3941063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1A40"/>
                </a:solidFill>
              </a:rPr>
              <a:t>Inference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3941063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5577"/>
                </a:solidFill>
              </a:rPr>
              <a:t>Supports Statistical Inference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941063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5577"/>
                </a:solidFill>
              </a:rPr>
              <a:t>Limited Generalization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480560"/>
            <a:ext cx="10881360" cy="62179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" y="4480560"/>
            <a:ext cx="54864" cy="6217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19" y="4599432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1A40"/>
                </a:solidFill>
              </a:rPr>
              <a:t>Cost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459943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5577"/>
                </a:solidFill>
              </a:rPr>
              <a:t>More Expensive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59943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5577"/>
                </a:solidFill>
              </a:rPr>
              <a:t>Less Expensive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138927"/>
            <a:ext cx="108813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0080" y="5138927"/>
            <a:ext cx="54864" cy="6217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19" y="5257799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1A40"/>
                </a:solidFill>
              </a:rPr>
              <a:t>Example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5257799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5577"/>
                </a:solidFill>
              </a:rPr>
              <a:t>Customer satisfaction polls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5257799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5577"/>
                </a:solidFill>
              </a:rPr>
              <a:t>Website feedback popups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833872"/>
            <a:ext cx="11247120" cy="82296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57200" y="5833872"/>
            <a:ext cx="73152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588873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🎯  Activity — Name the method: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263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1. Every 20th customer → Systematic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0" y="6263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2. Random 500 employees → Simple Random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6263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3. Each department → Stratified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6263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4. 5 schools, all students → Cluster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Sampling Bias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7589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</a:rPr>
              <a:t>When some members are systematically more likely to be selected than others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47120" cy="804672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91440" cy="80467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4904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Sampling bias occurs when some members are more likely to be selected than others — leading to a sample that does NOT truly represent the population.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77440"/>
            <a:ext cx="53035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377440"/>
            <a:ext cx="73152" cy="201168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45059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1A40"/>
                </a:solidFill>
              </a:rPr>
              <a:t>🛍️  Business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260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1A40"/>
                </a:solidFill>
              </a:rPr>
              <a:t>Surveying only premium customers.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101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5577"/>
                </a:solidFill>
              </a:rPr>
              <a:t>Question: Can results represent all customers?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03320"/>
            <a:ext cx="4937760" cy="457200"/>
          </a:xfrm>
          <a:prstGeom prst="rect">
            <a:avLst/>
          </a:prstGeom>
          <a:solidFill>
            <a:srgbClr val="FF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76732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A4400"/>
                </a:solidFill>
              </a:rPr>
              <a:t>❌  No — Budget customers are excluded entirely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377440"/>
            <a:ext cx="53035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2377440"/>
            <a:ext cx="73152" cy="2011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245059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1A40"/>
                </a:solidFill>
              </a:rPr>
              <a:t>🤖  AI Example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9260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1A40"/>
                </a:solidFill>
              </a:rPr>
              <a:t>Training an AI model using data only from urban users.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3101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5577"/>
                </a:solidFill>
              </a:rPr>
              <a:t>Will it perform equally well for rural users?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3703320"/>
            <a:ext cx="4937760" cy="457200"/>
          </a:xfrm>
          <a:prstGeom prst="rect">
            <a:avLst/>
          </a:prstGeom>
          <a:solidFill>
            <a:srgbClr val="FF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20840" y="376732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A4400"/>
                </a:solidFill>
              </a:rPr>
              <a:t>❌  Not necessarily — rural patterns are missing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572000"/>
            <a:ext cx="11247120" cy="5029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46360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Consequences of Sampling Bias: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166360"/>
            <a:ext cx="27432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5166360"/>
            <a:ext cx="64008" cy="80467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" y="5266944"/>
            <a:ext cx="24871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1A40"/>
                </a:solidFill>
              </a:rPr>
              <a:t>😕  Misleading insights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5166360"/>
            <a:ext cx="27432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383280" y="5166360"/>
            <a:ext cx="64008" cy="80467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547872" y="5266944"/>
            <a:ext cx="24871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1A40"/>
                </a:solidFill>
              </a:rPr>
              <a:t>📉  Poor business decisions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5166360"/>
            <a:ext cx="27432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09360" y="5166360"/>
            <a:ext cx="64008" cy="80467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73952" y="5266944"/>
            <a:ext cx="24871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1A40"/>
                </a:solidFill>
              </a:rPr>
              <a:t>⚖️  Unfair AI predictions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35440" y="5166360"/>
            <a:ext cx="27432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235440" y="5166360"/>
            <a:ext cx="64008" cy="80467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400032" y="5266944"/>
            <a:ext cx="24871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1A40"/>
                </a:solidFill>
              </a:rPr>
              <a:t>🔁  Skewed recommendations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Sampling 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</a:rPr>
              <a:t>The natural difference between a sample result and the true population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47120" cy="804672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73152" cy="8046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Sampling error is the difference between a sample statistic and the actual population parameter.
It is natural and expected — because we are studying only PART of the population.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11247120" cy="1874519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73152" cy="1874519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30428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F1C"/>
                </a:solidFill>
              </a:rPr>
              <a:t>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43200"/>
            <a:ext cx="3200400" cy="1005840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8163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DDFF"/>
                </a:solidFill>
              </a:rPr>
              <a:t>Population
Avg Spend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461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₹1,000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283464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743200"/>
            <a:ext cx="3200400" cy="1005840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09160" y="28163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DDFF"/>
                </a:solidFill>
              </a:rPr>
              <a:t>Sample
Avg Spend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2461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9F1C"/>
                </a:solidFill>
              </a:rPr>
              <a:t>₹950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283464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=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2743200"/>
            <a:ext cx="3108960" cy="1005840"/>
          </a:xfrm>
          <a:prstGeom prst="rect">
            <a:avLst/>
          </a:prstGeom>
          <a:solidFill>
            <a:srgbClr val="30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49640" y="28163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CAA"/>
                </a:solidFill>
              </a:rPr>
              <a:t>Sampling
Error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246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8844"/>
                </a:solidFill>
              </a:rPr>
              <a:t>₹50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51960"/>
            <a:ext cx="11247120" cy="804672"/>
          </a:xfrm>
          <a:prstGeom prst="rect">
            <a:avLst/>
          </a:prstGeom>
          <a:solidFill>
            <a:srgbClr val="043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251960"/>
            <a:ext cx="73152" cy="804672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31596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💡  Key Point: Sampling error is natural and unavoidable. It occurs because we study only PART of the population. It is different from bias — it is not due to poor design.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19" y="52578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108960" y="52578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Sampling Bias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79" y="52578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9F1C"/>
                </a:solidFill>
              </a:rPr>
              <a:t>Sampling Error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715000"/>
            <a:ext cx="10972800" cy="329184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19" y="5760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1A40"/>
                </a:solidFill>
              </a:rPr>
              <a:t>Cause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5760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5577"/>
                </a:solidFill>
              </a:rPr>
              <a:t>Poor sampling design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79" y="5760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5577"/>
                </a:solidFill>
              </a:rPr>
              <a:t>Natural variation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6062472"/>
            <a:ext cx="109728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19" y="61081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1A40"/>
                </a:solidFill>
              </a:rPr>
              <a:t>Type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61081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5577"/>
                </a:solidFill>
              </a:rPr>
              <a:t>Systematic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79" y="61081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5577"/>
                </a:solidFill>
              </a:rPr>
              <a:t>Random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6409944"/>
            <a:ext cx="10972800" cy="329184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19" y="64556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1A40"/>
                </a:solidFill>
              </a:rPr>
              <a:t>Avoidable?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645566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5577"/>
                </a:solidFill>
              </a:rPr>
              <a:t>Yes — with better design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79" y="645566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5577"/>
                </a:solidFill>
              </a:rPr>
              <a:t>Expected — always present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Introduction to Probability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7589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</a:rPr>
              <a:t>Measuring uncertainty and the likelihood of events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47120" cy="804672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91440" cy="8046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49047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Probability measures the likelihood of an event occurring. Values range from 0 to 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77440"/>
            <a:ext cx="112471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377440"/>
            <a:ext cx="73152" cy="1508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45059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1A40"/>
                </a:solidFill>
              </a:rPr>
              <a:t>Probability Scale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00400"/>
            <a:ext cx="10972800" cy="182880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3232" y="3063240"/>
            <a:ext cx="36576" cy="4572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3520440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4444"/>
                </a:solidFill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32461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5577"/>
                </a:solidFill>
              </a:rPr>
              <a:t>Impossible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82112" y="3063240"/>
            <a:ext cx="36576" cy="45720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80360" y="3520440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9933"/>
                </a:solidFill>
              </a:rPr>
              <a:t>0.25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32461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5577"/>
                </a:solidFill>
              </a:rPr>
              <a:t>Unlikely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50992" y="3063240"/>
            <a:ext cx="36576" cy="4572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49240" y="3520440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9F1C"/>
                </a:solidFill>
              </a:rPr>
              <a:t>0.5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32461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5577"/>
                </a:solidFill>
              </a:rPr>
              <a:t>50% Chance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19872" y="3063240"/>
            <a:ext cx="36576" cy="457200"/>
          </a:xfrm>
          <a:prstGeom prst="rect">
            <a:avLst/>
          </a:prstGeom>
          <a:solidFill>
            <a:srgbClr val="66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18120" y="3520440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6CC66"/>
                </a:solidFill>
              </a:rPr>
              <a:t>0.75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2461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5577"/>
                </a:solidFill>
              </a:rPr>
              <a:t>Likely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88752" y="3063240"/>
            <a:ext cx="36576" cy="457200"/>
          </a:xfrm>
          <a:prstGeom prst="rect">
            <a:avLst/>
          </a:prstGeom>
          <a:solidFill>
            <a:srgbClr val="00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87000" y="3520440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A44"/>
                </a:solidFill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19" y="32461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5577"/>
                </a:solidFill>
              </a:rPr>
              <a:t>Certain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06908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1A40"/>
                </a:solidFill>
              </a:rPr>
              <a:t>Key Probability Terms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526280"/>
            <a:ext cx="5577840" cy="9144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4526280"/>
            <a:ext cx="64008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1792" y="45994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1A40"/>
                </a:solidFill>
              </a:rPr>
              <a:t>🎲  Experiment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500176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5577"/>
                </a:solidFill>
              </a:rPr>
              <a:t>An activity producing outcomes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478231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5577"/>
                </a:solidFill>
              </a:rPr>
              <a:t>e.g. Tossing a coin, rolling a die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4526280"/>
            <a:ext cx="5577840" cy="9144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309360" y="4526280"/>
            <a:ext cx="64008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73952" y="45994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1A40"/>
                </a:solidFill>
              </a:rPr>
              <a:t>📌  Outcome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3952" y="500176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5577"/>
                </a:solidFill>
              </a:rPr>
              <a:t>Result of a single experiment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478231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5577"/>
                </a:solidFill>
              </a:rPr>
              <a:t>e.g. Getting Heads, rolling a 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550408"/>
            <a:ext cx="5577840" cy="9144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57200" y="5550408"/>
            <a:ext cx="64008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1792" y="56235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1A40"/>
                </a:solidFill>
              </a:rPr>
              <a:t>📋  Event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6025896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5577"/>
                </a:solidFill>
              </a:rPr>
              <a:t>A collection of outcomes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58064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5577"/>
                </a:solidFill>
              </a:rPr>
              <a:t>e.g. Getting an even number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5550408"/>
            <a:ext cx="5577840" cy="9144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309360" y="5550408"/>
            <a:ext cx="64008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73952" y="56235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1A40"/>
                </a:solidFill>
              </a:rPr>
              <a:t>🗂️  Sample Space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3952" y="6025896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5577"/>
                </a:solidFill>
              </a:rPr>
              <a:t>All possible outcomes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58064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5577"/>
                </a:solidFill>
              </a:rPr>
              <a:t>e.g. S = {1, 2, 3, 4, 5, 6} for a die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Basic Probability — Formula and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</a:rPr>
              <a:t>Calculating the likelihood of any event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47120" cy="96012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73152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Formula: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P(Event) = Number of Favorable Outcomes  ÷  Total Number of Possible Outcomes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95728"/>
            <a:ext cx="5303520" cy="251460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395728"/>
            <a:ext cx="73152" cy="2514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🎲  Die Roll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4436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Roll a die. What is P(getting 4)?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5584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EFF"/>
                </a:solidFill>
              </a:rPr>
              <a:t>Favorable Outcomes = 1  (only the face showing 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3075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EFF"/>
                </a:solidFill>
              </a:rPr>
              <a:t>Total Outcomes = 6  (faces 1–6)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160520"/>
            <a:ext cx="4937760" cy="566928"/>
          </a:xfrm>
          <a:prstGeom prst="rect">
            <a:avLst/>
          </a:prstGeom>
          <a:solidFill>
            <a:srgbClr val="00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224528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P(4) = 1/6 ≈ 0.167 ≈ 16.7%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395728"/>
            <a:ext cx="5303520" cy="251460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2395728"/>
            <a:ext cx="73152" cy="25146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2468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9F1C"/>
                </a:solidFill>
              </a:rPr>
              <a:t>🏢  Business Example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94436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20 out of 100 customers purchased
a premium subscription.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5204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EFF"/>
                </a:solidFill>
              </a:rPr>
              <a:t>Favorable Outcomes = 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8862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EFF"/>
                </a:solidFill>
              </a:rPr>
              <a:t>Total Outcomes = 100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4315968"/>
            <a:ext cx="4937760" cy="566928"/>
          </a:xfrm>
          <a:prstGeom prst="rect">
            <a:avLst/>
          </a:prstGeom>
          <a:solidFill>
            <a:srgbClr val="AA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20840" y="4379976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P(premium) = 20/100 = 0.20 = 20%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074920"/>
            <a:ext cx="11247120" cy="1572768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5074920"/>
            <a:ext cx="73152" cy="1572768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51389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0EE90"/>
                </a:solidFill>
              </a:rPr>
              <a:t>Probability Interpretations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5321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P = 0  →  Impossible event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5321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P = 1  →  Certain event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9161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P = 0.5  →  Equal chance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59161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 P between 0 and 1  →  Some likelihood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Types of Probability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7589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</a:rPr>
              <a:t>Joint, Marginal, and Conditional — understanding how events relate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56616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35661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16002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/>
              <a:t>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042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1A40"/>
                </a:solidFill>
              </a:rPr>
              <a:t>Joint Probability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5292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5577"/>
                </a:solidFill>
              </a:rPr>
              <a:t>Probability of TWO events occurring together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383280"/>
            <a:ext cx="2834640" cy="475488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7" y="3438144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B4D8"/>
                </a:solidFill>
              </a:rPr>
              <a:t>P(A and 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931920"/>
            <a:ext cx="336499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1A40"/>
                </a:solidFill>
              </a:rPr>
              <a:t>Customer buys BOTH a Laptop AND a Mouse.
P(Laptop ∩ Mouse) = P(buying both)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919472"/>
            <a:ext cx="3383280" cy="1143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5577"/>
                </a:solidFill>
              </a:rPr>
              <a:t>📌 Used in market basket analysis, cross-sell recommendations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463040"/>
            <a:ext cx="356616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97680" y="1463040"/>
            <a:ext cx="3566160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0" y="16002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/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3042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1A40"/>
                </a:solidFill>
              </a:rPr>
              <a:t>Marginal Probability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85292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5577"/>
                </a:solidFill>
              </a:rPr>
              <a:t>Probability of a SINGLE event regardless of others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3383280"/>
            <a:ext cx="2834640" cy="475488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81728" y="3438144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9F1C"/>
                </a:solidFill>
              </a:rPr>
              <a:t>P(A)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3931920"/>
            <a:ext cx="336499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1A40"/>
                </a:solidFill>
              </a:rPr>
              <a:t>Probability that a customer buys a Laptop — regardless of anything else.
P(Laptop)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4919472"/>
            <a:ext cx="3383280" cy="1143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80560" y="49834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5577"/>
                </a:solidFill>
              </a:rPr>
              <a:t>📌 Used in demand forecasting, individual event prediction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1463040"/>
            <a:ext cx="356616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38160" y="1463040"/>
            <a:ext cx="3566160" cy="73152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09760" y="16002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/>
              <a:t>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3042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1A40"/>
                </a:solidFill>
              </a:rPr>
              <a:t>Conditional Probability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285292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5577"/>
                </a:solidFill>
              </a:rPr>
              <a:t>Probability of event A GIVEN event B has occurred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3383280"/>
            <a:ext cx="2834640" cy="475488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22208" y="3438144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90EE90"/>
                </a:solidFill>
              </a:rPr>
              <a:t>P(A | B)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7888" y="3931920"/>
            <a:ext cx="336499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1A40"/>
                </a:solidFill>
              </a:rPr>
              <a:t>Probability a customer buys a Laptop GIVEN they already bought a Mouse.
P(Laptop | Mouse purchased)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4919472"/>
            <a:ext cx="3383280" cy="1143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21040" y="49834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5577"/>
                </a:solidFill>
              </a:rPr>
              <a:t>📌 Recommendation systems, fraud detection, AI predictions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Conditional Probability — Deeper 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</a:rPr>
              <a:t>The foundation of recommendation systems and AI predictions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47120" cy="82296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73152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898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Formula:  P(A | B) = P(A and B) ÷ P(B)     →     Read as: 'Probability of A given B'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67712"/>
            <a:ext cx="11247120" cy="2084831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267712"/>
            <a:ext cx="73152" cy="2084831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34086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9F1C"/>
                </a:solidFill>
              </a:rPr>
              <a:t>Business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88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Question: What is the probability that a customer buys a Laptop, given they already bought a Mouse?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735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P(Laptop | Mouse) =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27355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P(Laptop and Mouse) ÷ P(Mouse)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307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EEFF"/>
                </a:solidFill>
              </a:rPr>
              <a:t>The condition (buying Mouse) CHANGES the probability of buying a Laptop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9884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Real-World Applications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029200"/>
            <a:ext cx="5577840" cy="77724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5029200"/>
            <a:ext cx="73152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508406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🛒  Recommendation 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46811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CCEE"/>
                </a:solidFill>
              </a:rPr>
              <a:t>Amazon: 'Customers who bought X also bought Y'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5029200"/>
            <a:ext cx="5577840" cy="77724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5029200"/>
            <a:ext cx="73152" cy="77724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508406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🏦  Fraud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46811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CCEE"/>
                </a:solidFill>
              </a:rPr>
              <a:t>High transaction given unusual location → suspicious?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897880"/>
            <a:ext cx="5577840" cy="77724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5897880"/>
            <a:ext cx="73152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595274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🤖  AI Predictions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33679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CCEE"/>
                </a:solidFill>
              </a:rPr>
              <a:t>Probability of churn given low engagement score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5897880"/>
            <a:ext cx="5577840" cy="77724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09360" y="5897880"/>
            <a:ext cx="73152" cy="77724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595274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🏥  Healthcare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633679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CCEE"/>
                </a:solidFill>
              </a:rPr>
              <a:t>Probability of disease given positive test result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Business Case Study — Customer Satisfaction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7589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</a:rPr>
              <a:t>Applying sampling concepts to a real business 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44752"/>
            <a:ext cx="11247120" cy="105156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444752"/>
            <a:ext cx="91440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508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📱  Telecom Company 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920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Population = 5 million customers  |  Sample = 3,000 customers  |  Survey Result: 82% satisfied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70048"/>
            <a:ext cx="1124712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670048"/>
            <a:ext cx="457200" cy="6949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1207" y="28529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1A40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73405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1A40"/>
                </a:solidFill>
              </a:rPr>
              <a:t>What is the population?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072384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35577"/>
                </a:solidFill>
              </a:rPr>
              <a:t>→  All 5 million telecom customers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19856"/>
            <a:ext cx="1124712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419856"/>
            <a:ext cx="457200" cy="69494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7" y="36027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1A40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483863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1A40"/>
                </a:solidFill>
              </a:rPr>
              <a:t>What is the sample?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822191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35577"/>
                </a:solidFill>
              </a:rPr>
              <a:t>→  The 3,000 customers surveyed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69663"/>
            <a:ext cx="1124712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169663"/>
            <a:ext cx="457200" cy="694944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1207" y="435254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1A40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2336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1A40"/>
                </a:solidFill>
              </a:rPr>
              <a:t>Which sampling method to use?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572000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35577"/>
                </a:solidFill>
              </a:rPr>
              <a:t>→  Stratified sampling — ensures different user segments (metro, rural, plan types) are represented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919472"/>
            <a:ext cx="1124712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4919472"/>
            <a:ext cx="457200" cy="694944"/>
          </a:xfrm>
          <a:prstGeom prst="rect">
            <a:avLst/>
          </a:prstGeom>
          <a:solidFill>
            <a:srgbClr val="FFA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1207" y="51023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1A40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9834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1A40"/>
                </a:solidFill>
              </a:rPr>
              <a:t>Could bias exist?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321808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35577"/>
                </a:solidFill>
              </a:rPr>
              <a:t>→  Yes — if only loyal or premium customers are surveyed, satisfaction may be overstated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669279"/>
            <a:ext cx="1124712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5669279"/>
            <a:ext cx="457200" cy="694944"/>
          </a:xfrm>
          <a:prstGeom prst="rect">
            <a:avLst/>
          </a:prstGeom>
          <a:solidFill>
            <a:srgbClr val="CC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1207" y="585215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1A40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73328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1A40"/>
                </a:solidFill>
              </a:rPr>
              <a:t>Can results be generalized?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6071616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35577"/>
                </a:solidFill>
              </a:rPr>
              <a:t>→  With proper random sampling and adequate size — yes, with a known margin of error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Bayes Theorem — Updating Beliefs with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</a:rPr>
              <a:t>The foundation of intelligent decision-making under uncertainty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47120" cy="1024128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91440" cy="10241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371600"/>
            <a:ext cx="109728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🏦  A bank monitors millions of transactions daily. Most are legitimate. One arrives:
Very high amount  •  Foreign country  •  Unusual time of day
Should the bank still believe it's legitimate?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87168"/>
            <a:ext cx="2743200" cy="2999232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487168"/>
            <a:ext cx="27432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651760"/>
            <a:ext cx="530352" cy="5303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688336"/>
            <a:ext cx="530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1A40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265176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Start with an
Initial Belief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419856"/>
            <a:ext cx="248716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Prior probability
Fraud = Low (1% of transactions)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7248" y="3721608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2487168"/>
            <a:ext cx="2743200" cy="2999232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83280" y="2487168"/>
            <a:ext cx="2743200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474720" y="2651760"/>
            <a:ext cx="530352" cy="5303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0" y="2688336"/>
            <a:ext cx="530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1A40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33088" y="265176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</a:rPr>
              <a:t>Observe
New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419856"/>
            <a:ext cx="248716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Large amount
Foreign location
New device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3328" y="3721608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487168"/>
            <a:ext cx="2743200" cy="2999232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09360" y="2487168"/>
            <a:ext cx="2743200" cy="73152"/>
          </a:xfrm>
          <a:prstGeom prst="rect">
            <a:avLst/>
          </a:prstGeom>
          <a:solidFill>
            <a:srgbClr val="00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0" y="2651760"/>
            <a:ext cx="530352" cy="530352"/>
          </a:xfrm>
          <a:prstGeom prst="rect">
            <a:avLst/>
          </a:prstGeom>
          <a:solidFill>
            <a:srgbClr val="00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2688336"/>
            <a:ext cx="530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1A40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265176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B66"/>
                </a:solidFill>
              </a:rPr>
              <a:t>Update Your
Belief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419856"/>
            <a:ext cx="248716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Fraud probability
now increases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9408" y="3721608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2487168"/>
            <a:ext cx="2743200" cy="2999232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235440" y="2487168"/>
            <a:ext cx="2743200" cy="73152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326880" y="2651760"/>
            <a:ext cx="530352" cy="530352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26880" y="2688336"/>
            <a:ext cx="530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1A40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85248" y="265176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A66FF"/>
                </a:solidFill>
              </a:rPr>
              <a:t>Make a Better
Decision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3419856"/>
            <a:ext cx="248716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Flag transaction
for review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650992"/>
            <a:ext cx="11247120" cy="658368"/>
          </a:xfrm>
          <a:prstGeom prst="rect">
            <a:avLst/>
          </a:prstGeom>
          <a:solidFill>
            <a:srgbClr val="0A3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7200" y="5650992"/>
            <a:ext cx="73152" cy="658368"/>
          </a:xfrm>
          <a:prstGeom prst="rect">
            <a:avLst/>
          </a:prstGeom>
          <a:solidFill>
            <a:srgbClr val="00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571500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💡  This process of updating our belief based on new evidence is called Bayesian Thinking.
    "What Bayes Theorem does: Start with a belief → See evidence → Update the belief → Decide better."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Bayes Theorem — Key Concepts &amp;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7589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</a:rPr>
              <a:t>Prior belief + New evidence = Updated belief (Posterior)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3566160" cy="3127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73152" cy="31272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155448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/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128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1A40"/>
                </a:solidFill>
              </a:rPr>
              <a:t>Prior Probability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24912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5577"/>
                </a:solidFill>
              </a:rPr>
              <a:t>What you believe BEFORE seeing new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73552"/>
            <a:ext cx="3383280" cy="1143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1A40"/>
                </a:solidFill>
              </a:rPr>
              <a:t>Example:
Only 1% of transactions are fraudulent.
Initial belief: Fraud is unlikely.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417320"/>
            <a:ext cx="3566160" cy="3127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97680" y="1417320"/>
            <a:ext cx="73152" cy="312724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0" y="155448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/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2128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1A40"/>
                </a:solidFill>
              </a:rP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724912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5577"/>
                </a:solidFill>
              </a:rPr>
              <a:t>New information that arrives and changes the picture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3273552"/>
            <a:ext cx="3383280" cy="1143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0560" y="333756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1A40"/>
                </a:solidFill>
              </a:rPr>
              <a:t>Example:
Unusual location  •  High amount
New device  •  Odd timing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417320"/>
            <a:ext cx="3566160" cy="3127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38160" y="1417320"/>
            <a:ext cx="73152" cy="3127248"/>
          </a:xfrm>
          <a:prstGeom prst="rect">
            <a:avLst/>
          </a:prstGeom>
          <a:solidFill>
            <a:srgbClr val="00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09760" y="155448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/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2128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1A40"/>
                </a:solidFill>
              </a:rPr>
              <a:t>Posterior Probability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724912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35577"/>
                </a:solidFill>
              </a:rPr>
              <a:t>Your UPDATED belief AFTER considering the evidence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3273552"/>
            <a:ext cx="3383280" cy="1143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40" y="333756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1A40"/>
                </a:solidFill>
              </a:rPr>
              <a:t>Example:
After evidence: Fraud is now significantly more likely.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709160"/>
            <a:ext cx="11247120" cy="1993392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4709160"/>
            <a:ext cx="91440" cy="1993392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" y="477316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A66FF"/>
                </a:solidFill>
              </a:rPr>
              <a:t>📐  Bayes Theorem Formula  (Awareness Only — not required to memorise)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230368"/>
            <a:ext cx="10881360" cy="749808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" y="5321808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P(A | B)  =  [ P(B | A) × P(A) ]  ÷  P(B)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0533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EFF"/>
                </a:solidFill>
              </a:rPr>
              <a:t>Where:   P(A) = Prior Probability   •   P(B) = Evidence   •   P(A|B) = Posterior (Updated) Probability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Bayes Theorem — Business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</a:rPr>
              <a:t>How organisations update decisions with every new piece of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98448"/>
            <a:ext cx="3703320" cy="2359152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98448"/>
            <a:ext cx="37033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463039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🏦  Fraud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56815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CCEE"/>
                </a:solidFill>
              </a:rPr>
              <a:t>Prior: 99% of transactions are legitimate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22576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Evidence: Large amount  •  Foreign country
Unusual purchase pattern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71215"/>
            <a:ext cx="3520440" cy="658368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94436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4D8"/>
                </a:solidFill>
              </a:rPr>
              <a:t>→ Transaction flagged as suspicious — risk score updated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298448"/>
            <a:ext cx="3703320" cy="2359152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0" y="1298448"/>
            <a:ext cx="3703320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1463039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</a:rPr>
              <a:t>🏥  Medical Diagnosis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956815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CCEE"/>
                </a:solidFill>
              </a:rPr>
              <a:t>Prior: A disease is rare in the population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322576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Evidence: Patient receives a positive test result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2871215"/>
            <a:ext cx="3520440" cy="658368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80560" y="294436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4D8"/>
                </a:solidFill>
              </a:rPr>
              <a:t>→ Doctors combine prior probability + test result
to update their diagnosis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298448"/>
            <a:ext cx="3703320" cy="2359152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0" y="1298448"/>
            <a:ext cx="3703320" cy="73152"/>
          </a:xfrm>
          <a:prstGeom prst="rect">
            <a:avLst/>
          </a:prstGeom>
          <a:solidFill>
            <a:srgbClr val="00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66760" y="1463039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B66"/>
                </a:solidFill>
              </a:rPr>
              <a:t>💳  Loan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1956815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CCEE"/>
                </a:solidFill>
              </a:rPr>
              <a:t>Prior: Customer initially appears low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322576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Evidence: Missed 3 EMI payments
Increased debt  •  Salary deposits stopped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2871215"/>
            <a:ext cx="3520440" cy="658368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0" y="294436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4D8"/>
                </a:solidFill>
              </a:rPr>
              <a:t>→ Bank updates risk assessment — loan review triggered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840479"/>
            <a:ext cx="3703320" cy="2359152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3840479"/>
            <a:ext cx="3703320" cy="73152"/>
          </a:xfrm>
          <a:prstGeom prst="rect">
            <a:avLst/>
          </a:prstGeom>
          <a:solidFill>
            <a:srgbClr val="AA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4005071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A66FF"/>
                </a:solidFill>
              </a:rPr>
              <a:t>📧  Spam Detection (AI)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498847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CCEE"/>
                </a:solidFill>
              </a:rPr>
              <a:t>Prior: Most emails are legitimate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864607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Evidence: Suspicious keywords  •  Unknown sender
Multiple links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413247"/>
            <a:ext cx="3520440" cy="658368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5486399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4D8"/>
                </a:solidFill>
              </a:rPr>
              <a:t>→ Spam probability increases — email filtered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3840479"/>
            <a:ext cx="3703320" cy="2359152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97680" y="3840479"/>
            <a:ext cx="3703320" cy="73152"/>
          </a:xfrm>
          <a:prstGeom prst="rect">
            <a:avLst/>
          </a:prstGeom>
          <a:solidFill>
            <a:srgbClr val="FF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34840" y="4005071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8AA"/>
                </a:solidFill>
              </a:rPr>
              <a:t>🎯  Recommendation 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4498847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CCEE"/>
                </a:solidFill>
              </a:rPr>
              <a:t>Prior: No prior knowledge of preferences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4864607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Evidence: User clicks, searches, purchases,
watch history observed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0" y="5413247"/>
            <a:ext cx="3520440" cy="658368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80560" y="5486399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4D8"/>
                </a:solidFill>
              </a:rPr>
              <a:t>→ Netflix/Amazon update future recommendations in real time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3840479"/>
            <a:ext cx="3703320" cy="2359152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229600" y="3840479"/>
            <a:ext cx="3703320" cy="73152"/>
          </a:xfrm>
          <a:prstGeom prst="rect">
            <a:avLst/>
          </a:prstGeom>
          <a:solidFill>
            <a:srgbClr val="FFC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66760" y="4005071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C44"/>
                </a:solidFill>
              </a:rPr>
              <a:t>🤖  Generative AI (LLMs)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4498847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CCEE"/>
                </a:solidFill>
              </a:rPr>
              <a:t>Prior: Initial probability over next word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4864607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Evidence: Context of preceding words
and conversation so far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21040" y="5413247"/>
            <a:ext cx="3520440" cy="658368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412480" y="5486399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4D8"/>
                </a:solidFill>
              </a:rPr>
              <a:t>→ Model predicts most likely next word — Bayesian-inspired reasoning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Bayes Theorem — Everyday Thinking &amp; 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7589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</a:rPr>
              <a:t>Bayesian thinking is something we do naturally — statistics formalises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303520" cy="3730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73152" cy="37307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49047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1A40"/>
                </a:solidFill>
              </a:rPr>
              <a:t>🌩️  Everyday Example — Rain Prediction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65960"/>
            <a:ext cx="4937760" cy="10515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0299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5577"/>
                </a:solidFill>
              </a:rPr>
              <a:t>BEFORE evidence: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7744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61A40"/>
                </a:solidFill>
              </a:rPr>
              <a:t>"There is a 20% chance of rain."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090672"/>
            <a:ext cx="4937760" cy="4572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15468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New Evidence arrives:  Thunder  •  Strong winds  •  Dark clouds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611880"/>
            <a:ext cx="4937760" cy="1389888"/>
          </a:xfrm>
          <a:prstGeom prst="rect">
            <a:avLst/>
          </a:prstGeom>
          <a:solidFill>
            <a:srgbClr val="E0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675887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733"/>
                </a:solidFill>
              </a:rPr>
              <a:t>AFTER evidence: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04164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006622"/>
                </a:solidFill>
              </a:rPr>
              <a:t>"There is now an 80% chance of rain."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7200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5577"/>
                </a:solidFill>
              </a:rPr>
              <a:t>Nothing changed about the weather itself.
What changed: your knowledge about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285232"/>
            <a:ext cx="5303520" cy="14173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5285232"/>
            <a:ext cx="73152" cy="1417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3492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💡  Key Insight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742432"/>
            <a:ext cx="50292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Bayes Theorem doesn't change facts.
It updates our BELIEF about facts as new information arrives.
This is how smart analysts — and AI systems — think.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1417320"/>
            <a:ext cx="5577840" cy="5285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35040" y="1417320"/>
            <a:ext cx="73152" cy="528523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6208" y="14904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1A40"/>
                </a:solidFill>
              </a:rPr>
              <a:t>🎯  Activity: Think Like an Analyst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965960"/>
            <a:ext cx="5212080" cy="1234440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55080" y="20299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1A40"/>
                </a:solidFill>
              </a:rPr>
              <a:t>Scenario: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37744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1A40"/>
                </a:solidFill>
              </a:rPr>
              <a:t>A customer has never missed a loan payment.
Initial Assessment: LOW RISK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291840"/>
            <a:ext cx="5212080" cy="1417320"/>
          </a:xfrm>
          <a:prstGeom prst="rect">
            <a:avLst/>
          </a:prstGeom>
          <a:solidFill>
            <a:srgbClr val="FF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80" y="336499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A4400"/>
                </a:solidFill>
              </a:rPr>
              <a:t>New Evidence (last 3 months):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749039"/>
            <a:ext cx="4937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1A40"/>
                </a:solidFill>
              </a:rPr>
              <a:t>❌  Missed 3 EMI payments
❌  Credit card debt increased
❌  Salary deposits stopped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8280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1A40"/>
                </a:solidFill>
              </a:rPr>
              <a:t>Questions: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5230368"/>
            <a:ext cx="5212080" cy="402336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91072" y="5285232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1A40"/>
                </a:solidFill>
              </a:rPr>
              <a:t>  1.  Has the probability of default increased?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5669279"/>
            <a:ext cx="5212080" cy="402336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91072" y="5724144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1A40"/>
                </a:solidFill>
              </a:rPr>
              <a:t>  2.  Should the bank update its risk assessment?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6108192"/>
            <a:ext cx="5212080" cy="402336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91072" y="6163056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1A40"/>
                </a:solidFill>
              </a:rPr>
              <a:t>  3.  What action should be taken?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Decision-Making 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4D8"/>
                </a:solidFill>
              </a:rPr>
              <a:t>Can management trust the result?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47120" cy="141732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91440" cy="1417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Scenario: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83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 company surveyed 500 customers.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48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</a:rPr>
              <a:t>Results: 70% satisfied — BUT the sample was collected ONLY from premium users.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80360"/>
            <a:ext cx="11247120" cy="1115568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880360"/>
            <a:ext cx="73152" cy="11155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95351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❓  Can management trust the result?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92424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No — not fully. The sample represents only premium customers, not the entire customer base. Budget or new customers may have very different experiences.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11247120" cy="1115568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4114800"/>
            <a:ext cx="73152" cy="111556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18795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F1C"/>
                </a:solidFill>
              </a:rPr>
              <a:t>🔍  Why not?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26864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This is Sampling Bias. Premium customers tend to be more satisfied than budget customers. The 70% figure may be significantly overstated for the full population.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349240"/>
            <a:ext cx="11247120" cy="1115568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5349240"/>
            <a:ext cx="73152" cy="1115568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42239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0EE90"/>
                </a:solidFill>
              </a:rPr>
              <a:t>💡  Recommended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61304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Re-survey using stratified random sampling across all customer segments — premium, standard, and budget — to get a representative and trustworthy result.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914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What's Coming — Day 3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7589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</a:rPr>
              <a:t>Moving from collecting good data to understanding how data behaves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44752"/>
            <a:ext cx="11247120" cy="804672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444752"/>
            <a:ext cx="91440" cy="8046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554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Today: Collecting good data  ─────→  Day 3: Understanding how data behaves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23160"/>
            <a:ext cx="21488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423160"/>
            <a:ext cx="214884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34440" y="2587752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/>
              <a:t>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00400"/>
            <a:ext cx="1965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1A40"/>
                </a:solidFill>
              </a:rPr>
              <a:t>Random Variables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85031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5577"/>
                </a:solidFill>
              </a:rPr>
              <a:t>Discrete and continuous variables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2423160"/>
            <a:ext cx="21488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88920" y="2423160"/>
            <a:ext cx="214884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66160" y="2587752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/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3200400"/>
            <a:ext cx="1965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1A40"/>
                </a:solidFill>
              </a:rPr>
              <a:t>Probability Distributions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685031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5577"/>
                </a:solidFill>
              </a:rPr>
              <a:t>How data is distributed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2423160"/>
            <a:ext cx="21488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120640" y="2423160"/>
            <a:ext cx="214884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97879" y="2587752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/>
              <a:t>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79" y="3200400"/>
            <a:ext cx="1965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1A40"/>
                </a:solidFill>
              </a:rPr>
              <a:t>Normal Distribution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3685031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5577"/>
                </a:solidFill>
              </a:rPr>
              <a:t>The bell curve and its properties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52359" y="2423160"/>
            <a:ext cx="21488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52359" y="2423160"/>
            <a:ext cx="214884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599" y="2587752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/>
              <a:t>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799" y="3200400"/>
            <a:ext cx="1965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1A40"/>
                </a:solidFill>
              </a:rPr>
              <a:t>Quartiles &amp; Percentiles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799" y="3685031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5577"/>
                </a:solidFill>
              </a:rPr>
              <a:t>Position measures in a dataset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84080" y="2423160"/>
            <a:ext cx="21488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784080" y="2423160"/>
            <a:ext cx="214884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561319" y="2587752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/>
              <a:t>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19" y="3200400"/>
            <a:ext cx="1965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1A40"/>
                </a:solidFill>
              </a:rPr>
              <a:t>IQR &amp; Boxplots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19" y="3685031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5577"/>
                </a:solidFill>
              </a:rPr>
              <a:t>Visualizing spread and outliers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251960"/>
            <a:ext cx="21488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7200" y="4251960"/>
            <a:ext cx="2148840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234440" y="4416552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/>
              <a:t>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029200"/>
            <a:ext cx="1965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1A40"/>
                </a:solidFill>
              </a:rPr>
              <a:t>Z-Scores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513832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5577"/>
                </a:solidFill>
              </a:rPr>
              <a:t>Standardizing data values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88920" y="4251960"/>
            <a:ext cx="21488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788920" y="4251960"/>
            <a:ext cx="2148840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566160" y="4416552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/>
              <a:t>↕️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80360" y="5029200"/>
            <a:ext cx="1965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1A40"/>
                </a:solidFill>
              </a:rPr>
              <a:t>Skewness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0360" y="5513832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5577"/>
                </a:solidFill>
              </a:rPr>
              <a:t>Symmetry of distributions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0" y="4251960"/>
            <a:ext cx="21488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120640" y="4251960"/>
            <a:ext cx="2148840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897879" y="4416552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/>
              <a:t>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79" y="5029200"/>
            <a:ext cx="1965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1A40"/>
                </a:solidFill>
              </a:rPr>
              <a:t>Kurtosis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9" y="5513832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5577"/>
                </a:solidFill>
              </a:rPr>
              <a:t>Tail heaviness of distributions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52359" y="4251960"/>
            <a:ext cx="21488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452359" y="4251960"/>
            <a:ext cx="2148840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229599" y="4416552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/>
              <a:t>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43799" y="5029200"/>
            <a:ext cx="1965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1A40"/>
                </a:solidFill>
              </a:rPr>
              <a:t>Distributions in Business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43799" y="5513832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5577"/>
                </a:solidFill>
              </a:rPr>
              <a:t>Real-world applications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784080" y="4251960"/>
            <a:ext cx="21488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784080" y="4251960"/>
            <a:ext cx="2148840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561319" y="4416552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/>
              <a:t>🤖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75519" y="5029200"/>
            <a:ext cx="1965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1A40"/>
                </a:solidFill>
              </a:rPr>
              <a:t>AI Applications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75519" y="5513832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5577"/>
                </a:solidFill>
              </a:rPr>
              <a:t>How distributions power ML models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Day 2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B4D8"/>
                </a:solidFill>
              </a:rPr>
              <a:t>What we covered today: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11247120" cy="50292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89888"/>
            <a:ext cx="73152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📌  Why Sampling?: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46304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EFF"/>
                </a:solidFill>
              </a:rPr>
              <a:t>Collecting data from everyone is impractical — sampling makes decisions faster and cheaper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38528"/>
            <a:ext cx="11247120" cy="502920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938528"/>
            <a:ext cx="73152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0116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👥  Population &amp; Sample: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01168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EFF"/>
                </a:solidFill>
              </a:rPr>
              <a:t>Population (N) = entire group; Sample (n) = subset selected for study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87168"/>
            <a:ext cx="11247120" cy="50292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487168"/>
            <a:ext cx="73152" cy="50292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25603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📐  Parameter vs Statistic: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5603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EFF"/>
                </a:solidFill>
              </a:rPr>
              <a:t>Parameters describe populations (usually unknown); statistics estimate them from samples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035808"/>
            <a:ext cx="11247120" cy="502920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035808"/>
            <a:ext cx="73152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31089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📋  Census vs Sampling: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1089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EFF"/>
                </a:solidFill>
              </a:rPr>
              <a:t>Census = complete but slow &amp; costly; Sampling = fast, cheap, practical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584448"/>
            <a:ext cx="11247120" cy="50292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584448"/>
            <a:ext cx="73152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36576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🎯  Probability Sampling: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365760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EFF"/>
                </a:solidFill>
              </a:rPr>
              <a:t>Simple Random, Systematic, Stratified, Cluster — all ensure every member has a known chance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133087"/>
            <a:ext cx="11247120" cy="502920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4133087"/>
            <a:ext cx="73152" cy="50292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42062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💼  Non-Probability Sampling: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420624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EFF"/>
                </a:solidFill>
              </a:rPr>
              <a:t>Convenience, Judgmental, Quota, Snowball — faster but higher risk of bias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681727"/>
            <a:ext cx="11247120" cy="50292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4681727"/>
            <a:ext cx="73152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475487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⚠️  Bias &amp; Error: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4754879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EFF"/>
                </a:solidFill>
              </a:rPr>
              <a:t>Sampling bias = poor design (avoidable); Sampling error = natural variation (expected)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230368"/>
            <a:ext cx="11247120" cy="502920"/>
          </a:xfrm>
          <a:prstGeom prst="rect">
            <a:avLst/>
          </a:prstGeom>
          <a:solidFill>
            <a:srgbClr val="07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7200" y="5230368"/>
            <a:ext cx="73152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4360" y="53035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🎲  Probability Foundations: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29000" y="53035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EFF"/>
                </a:solidFill>
              </a:rPr>
              <a:t>P(event) = favorable outcomes ÷ total outcomes; ranges from 0 to 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779008"/>
            <a:ext cx="11247120" cy="502920"/>
          </a:xfrm>
          <a:prstGeom prst="rect">
            <a:avLst/>
          </a:prstGeom>
          <a:solidFill>
            <a:srgbClr val="0A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57200" y="5779008"/>
            <a:ext cx="73152" cy="50292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" y="58521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🔀  Types of Probability: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29000" y="58521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EFF"/>
                </a:solidFill>
              </a:rPr>
              <a:t>Joint, Marginal, and Conditional probability — foundation of AI and analytics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73952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See you in Day 3 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3069</Words>
  <Application>Microsoft Office PowerPoint</Application>
  <PresentationFormat>Custom</PresentationFormat>
  <Paragraphs>512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Ramya Murugesh</cp:lastModifiedBy>
  <cp:revision>2</cp:revision>
  <dcterms:created xsi:type="dcterms:W3CDTF">2013-01-27T09:14:16Z</dcterms:created>
  <dcterms:modified xsi:type="dcterms:W3CDTF">2026-06-09T08:16:19Z</dcterms:modified>
  <cp:category/>
</cp:coreProperties>
</file>