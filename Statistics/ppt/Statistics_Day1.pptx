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88552" y="0"/>
            <a:ext cx="32004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Statistics for
Data-Driven
Decision 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0D8F0"/>
                </a:solidFill>
              </a:rPr>
              <a:t>Understanding and Summarizing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AACC"/>
                </a:solidFill>
              </a:rPr>
              <a:t>Descriptive Statistics  •  Data Types  •  Central Tendency  •  Variability  •  Outliers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2" y="914400"/>
            <a:ext cx="1828800" cy="182880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83112" y="3566160"/>
            <a:ext cx="1097280" cy="109728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65992" y="5577840"/>
            <a:ext cx="731520" cy="73152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Statistics Matters in Data Careers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Every data role works with data — and statistics is the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27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Data Analyst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27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Business Analyst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627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AI Engineer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6304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0" y="1463040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627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ML Engineer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2608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2926080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0358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090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Data Engineer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92608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91840" y="2926080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0" y="30358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090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BI Developer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926080"/>
            <a:ext cx="2651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2926080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0358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090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GenAI Engineer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4800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Regardless of your role — you will work with data. Collecting it alone is not enough.
Organizations need answers, and statistics provides the tools to find them.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Happens Without Statistics?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Data alone cannot answer business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1148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411480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371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411480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019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1A40"/>
                </a:solidFill>
              </a:rPr>
              <a:t>Monday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01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1A40"/>
                </a:solidFill>
              </a:rPr>
              <a:t>1200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496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1A40"/>
                </a:solidFill>
              </a:rPr>
              <a:t>Tuesday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963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1A40"/>
                </a:solidFill>
              </a:rPr>
              <a:t>1300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411480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090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1A40"/>
                </a:solidFill>
              </a:rPr>
              <a:t>Wednesday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0906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1A40"/>
                </a:solidFill>
              </a:rPr>
              <a:t>1250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685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1A40"/>
                </a:solidFill>
              </a:rPr>
              <a:t>Thursday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685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1A40"/>
                </a:solidFill>
              </a:rPr>
              <a:t>1280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4114800" cy="59436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279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1A40"/>
                </a:solidFill>
              </a:rPr>
              <a:t>Friday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2793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800 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13258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1A40"/>
                </a:solidFill>
              </a:rPr>
              <a:t>Business Questions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1874519"/>
            <a:ext cx="6766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0" y="1874519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66360" y="1938527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❓  What happened on Friday?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532887"/>
            <a:ext cx="6766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0" y="2532887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66360" y="2596895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❓  Is this normal or a one-off event?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191256"/>
            <a:ext cx="6766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0" y="3191256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66360" y="3255263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❓  Is there a system issue?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849624"/>
            <a:ext cx="6766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0" y="3849624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66360" y="3913632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❓  Did customers stop purchasing?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507992"/>
            <a:ext cx="67665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0" y="4507992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66360" y="4572000"/>
            <a:ext cx="6492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1A40"/>
                </a:solidFill>
              </a:rPr>
              <a:t>❓  Should management be alerted?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5577"/>
                </a:solidFill>
              </a:rPr>
              <a:t>Without statistical thinking, these questions remain unanswered.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Statistics Helps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B4D8"/>
                </a:solidFill>
              </a:rPr>
              <a:t>Turning raw data into powerful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743200" cy="1645920"/>
          </a:xfrm>
          <a:prstGeom prst="rect">
            <a:avLst/>
          </a:prstGeom>
          <a:solidFill>
            <a:srgbClr val="0D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Summarize large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8E0"/>
                </a:solidFill>
              </a:rPr>
              <a:t>Make thousands of rows understandable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63040"/>
            <a:ext cx="2743200" cy="1645920"/>
          </a:xfrm>
          <a:prstGeom prst="rect">
            <a:avLst/>
          </a:prstGeom>
          <a:solidFill>
            <a:srgbClr val="0D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46304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194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Identify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8E0"/>
                </a:solidFill>
              </a:rPr>
              <a:t>Spot patterns over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743200" cy="1645920"/>
          </a:xfrm>
          <a:prstGeom prst="rect">
            <a:avLst/>
          </a:prstGeom>
          <a:solidFill>
            <a:srgbClr val="0D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Measure variability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8E0"/>
                </a:solidFill>
              </a:rPr>
              <a:t>Understand consistency vs. fluctuation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463040"/>
            <a:ext cx="2743200" cy="1645920"/>
          </a:xfrm>
          <a:prstGeom prst="rect">
            <a:avLst/>
          </a:prstGeom>
          <a:solidFill>
            <a:srgbClr val="0D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20" y="146304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194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Detect unusual 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8E0"/>
                </a:solidFill>
              </a:rPr>
              <a:t>Find anomalies and outliers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383280"/>
            <a:ext cx="2743200" cy="1645920"/>
          </a:xfrm>
          <a:prstGeom prst="rect">
            <a:avLst/>
          </a:prstGeom>
          <a:solidFill>
            <a:srgbClr val="0D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38328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Support decision-making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8E0"/>
                </a:solidFill>
              </a:rPr>
              <a:t>Turn data into actionable choices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383280"/>
            <a:ext cx="2743200" cy="1645920"/>
          </a:xfrm>
          <a:prstGeom prst="rect">
            <a:avLst/>
          </a:prstGeom>
          <a:solidFill>
            <a:srgbClr val="0D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46120" y="338328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2900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39" y="4114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Evaluate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39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8E0"/>
                </a:solidFill>
              </a:rPr>
              <a:t>Measure KPIs and outcomes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383280"/>
            <a:ext cx="2743200" cy="1645920"/>
          </a:xfrm>
          <a:prstGeom prst="rect">
            <a:avLst/>
          </a:prstGeom>
          <a:solidFill>
            <a:srgbClr val="0D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3383280"/>
            <a:ext cx="6400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114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Measure uncertainty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8E0"/>
                </a:solidFill>
              </a:rPr>
              <a:t>Quantify risk and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Statistics Across Industries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Every industry relies on statistics to answer critical business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56616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🛒 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Which products should we stock next month?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356616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🏦  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57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Which customers are likely to default on loans?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56616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149047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🏥  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057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Which treatment is most effective?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356616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6850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💻  E-commerce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51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Why are sales decreasing?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61188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06240" y="3611880"/>
            <a:ext cx="356616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43400" y="36850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🤖  Artificial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251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How accurate is the model?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61188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611880"/>
            <a:ext cx="356616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80" y="36850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✨  Generative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251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How confident is the model's response?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Statistics?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The science that converts raw data into useful information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Statistics is the science of collecting, organizing, analyzing, interpreting, and presenting data to support decision-making.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Applications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3566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64008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📣 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Customer segmentation
Campaign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108960"/>
            <a:ext cx="3566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06240" y="3108960"/>
            <a:ext cx="64008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💰 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11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Risk assessment
Fraud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108960"/>
            <a:ext cx="3566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3108960"/>
            <a:ext cx="64008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32004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🏥  Healthcare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611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Clinical studies
Treatment evaluation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3566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64008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75487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🤖  AI &amp;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5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Model evaluation
Prediction 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663440"/>
            <a:ext cx="3566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06240" y="4663440"/>
            <a:ext cx="64008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475487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⚙️  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16635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Process improvement
Quality control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Two Major Branches of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2120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212080" cy="50292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2120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📊  Descriptive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CCEE"/>
                </a:solidFill>
              </a:rPr>
              <a:t>Summarizes and describes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9F1C"/>
                </a:solidFill>
              </a:rPr>
              <a:t>Answers: "What happened?"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Measures: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313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153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9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Standard Deviation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0B8D0"/>
                </a:solidFill>
              </a:rPr>
              <a:t>Example: Monthly Sales Average = 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051560"/>
            <a:ext cx="5303520" cy="50292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051560"/>
            <a:ext cx="5303520" cy="5943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097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🔮  Inferential Statistics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CCEE"/>
                </a:solidFill>
              </a:rPr>
              <a:t>Makes conclusions about populations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Answers: "What is likely to happen?"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Methods: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Sampling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4472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Probability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313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Hypothesis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153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Confidence Intervals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599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  ✓  A/B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0B8D0"/>
                </a:solidFill>
              </a:rPr>
              <a:t>Example: 1000 customers → Predict 1M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Descriptive vs Inferential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Understanding the difference between the two 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972800" cy="5486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904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904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Inferential Statistics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10972800" cy="74980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121408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2140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Summarizes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12140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Makes Predictions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01168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788920"/>
            <a:ext cx="109728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898648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Data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9864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Uses All Available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9864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Uses Sample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78892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10972800" cy="74980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75888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67588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What Happened?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67588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What Might Happen?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56616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343400"/>
            <a:ext cx="109728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453128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45312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Summary Measures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45312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Estimates &amp; Probabilities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34340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120640"/>
            <a:ext cx="10972800" cy="74980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230368"/>
            <a:ext cx="23774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23036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Average salary = ₹40,000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230368"/>
            <a:ext cx="3931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Survey of 1000 → predict 1M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20640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 → Information → Insight →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Organizations make decisions using insights, not raw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47548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CDD"/>
                </a:solidFill>
              </a:rPr>
              <a:t>Raw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Customer | Order
C101 | ₹2,000
C102 | ₹3,500
C103 | ₹1,500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474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2651760" cy="47548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371600"/>
            <a:ext cx="2651760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F1C"/>
                </a:solidFill>
              </a:rPr>
              <a:t>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CDD"/>
                </a:solidFill>
              </a:rPr>
              <a:t>Processed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3832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Average Order
Value = ₹2,333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474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2651760" cy="47548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2651760" cy="64008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0EE90"/>
                </a:solidFill>
              </a:rPr>
              <a:t>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CDD"/>
                </a:solidFill>
              </a:rPr>
              <a:t>Meaningful
understanding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832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Customers spend
approx. ₹2,300
per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4747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371600"/>
            <a:ext cx="2651760" cy="47548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35440" y="1371600"/>
            <a:ext cx="2651760" cy="64008"/>
          </a:xfrm>
          <a:prstGeom prst="rect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88AA"/>
                </a:solidFill>
              </a:rPr>
              <a:t>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CDD"/>
                </a:solidFill>
              </a:rPr>
              <a:t>Action taken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3832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Create promotions
for customers
spending &gt; ₹2,000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💬  Activity: Avg customer age = 24 yrs. Identify: Data → Information → Insight →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Understanding Data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Different types of data require different analytical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5943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4389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3560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🏷️   Qualitative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Represents categories or characteristics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Examples: Gender • City • Product 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4937760" cy="38404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900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4937760" cy="4114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401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01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Female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49377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813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813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Male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4937760" cy="4572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2702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4400"/>
                </a:solidFill>
              </a:rPr>
              <a:t>⚠️  Cannot be meaningfully averaged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37160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371600"/>
            <a:ext cx="5303520" cy="5943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1371600"/>
            <a:ext cx="73152" cy="43891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43560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📏  Quantitative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Represents numerical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Examples: Revenue • Salary • Age • Weight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926080"/>
            <a:ext cx="4937760" cy="38404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29900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9900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Spending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337560"/>
            <a:ext cx="4937760" cy="4114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3401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401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₹2,500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749039"/>
            <a:ext cx="49377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0" y="3813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13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₹3,200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206240"/>
            <a:ext cx="4937760" cy="45720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0840" y="42702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633"/>
                </a:solidFill>
              </a:rPr>
              <a:t>✅  Supports mathematical calculations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897880"/>
            <a:ext cx="5303520" cy="777240"/>
          </a:xfrm>
          <a:prstGeom prst="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89788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5989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Discrete: Countable values (orders, employees, customers)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897880"/>
            <a:ext cx="5303520" cy="777240"/>
          </a:xfrm>
          <a:prstGeom prst="rect">
            <a:avLst/>
          </a:prstGeom>
          <a:solidFill>
            <a:srgbClr val="FF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0" y="5897880"/>
            <a:ext cx="64008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0" y="5989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Continuous: Measured values (height, revenue, delivery time)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Measurement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Scales determine which statistical techniques can be applied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1704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57200" cy="1170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6916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1A4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44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NOMINAL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019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DD"/>
                </a:solidFill>
              </a:rPr>
              <a:t>Categories without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447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Examples: Gender • Department •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385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FF"/>
                </a:solidFill>
              </a:rPr>
              <a:t>Male / Female / Other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2763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BBCC"/>
                </a:solidFill>
              </a:rPr>
              <a:t>💡 No ordering between categories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1247120" cy="11704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457200" cy="117043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7" y="2971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1A40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7249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F1C"/>
                </a:solidFill>
              </a:rPr>
              <a:t>ORDINAL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821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DD"/>
                </a:solidFill>
              </a:rPr>
              <a:t>Categories with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2491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Examples: Poor • Average • Good • Excellent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21868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FF"/>
                </a:solidFill>
              </a:rPr>
              <a:t>Order matters — gaps not measurable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BBCC"/>
                </a:solidFill>
              </a:rPr>
              <a:t>💡 Cannot calculate meaningful differences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1247120" cy="11704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457200" cy="1170432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425195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1A4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050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0EE90"/>
                </a:solidFill>
              </a:rPr>
              <a:t>INTERVAL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4622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DD"/>
                </a:solidFill>
              </a:rPr>
              <a:t>Ordered + equal intervals, no true zero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0050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Examples: Temperature in Celsius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4988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FF"/>
                </a:solidFill>
              </a:rPr>
              <a:t>0°C ≠ absence of temperature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18795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BBCC"/>
                </a:solidFill>
              </a:rPr>
              <a:t>💡 No true zero — ratios are meaningless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12079"/>
            <a:ext cx="11247120" cy="11704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212079"/>
            <a:ext cx="457200" cy="1170432"/>
          </a:xfrm>
          <a:prstGeom prst="rect">
            <a:avLst/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7" y="553211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1A40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28523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88"/>
                </a:solidFill>
              </a:rPr>
              <a:t>RATIO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742431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DD"/>
                </a:solidFill>
              </a:rPr>
              <a:t>Ordered + equal intervals + true zero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285231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Examples: Revenue • Salary • Age • Quantity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77900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FF"/>
                </a:solidFill>
              </a:rPr>
              <a:t>₹10,000 is twice ₹5,000 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54681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BBCC"/>
                </a:solidFill>
              </a:rPr>
              <a:t>💡 All mathematical operations valid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Introduction to Descriptive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Summarize, organize, and present data meaningfully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Scenario: A company has 50,000 customer records — ID, Age, Gender, City, Product, Order Value,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274320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27432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26060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Measures of
Central Tendency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05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Mean, Median,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2560320" cy="50292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5577"/>
                </a:solidFill>
              </a:rPr>
              <a:t>What is the typical value?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423160"/>
            <a:ext cx="274320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80" y="2423160"/>
            <a:ext cx="2743200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26060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Measures of
Variability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005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Range, Variance, Std Dev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4526280"/>
            <a:ext cx="2560320" cy="50292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0440" y="45720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5577"/>
                </a:solidFill>
              </a:rPr>
              <a:t>How consistent is the data?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423160"/>
            <a:ext cx="274320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423160"/>
            <a:ext cx="2743200" cy="9144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26060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Measures of
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05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Quartiles, Percentiles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526280"/>
            <a:ext cx="2560320" cy="50292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5720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5577"/>
                </a:solidFill>
              </a:rPr>
              <a:t>Where does a value stand? (Day 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423160"/>
            <a:ext cx="274320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35440" y="2423160"/>
            <a:ext cx="2743200" cy="91440"/>
          </a:xfrm>
          <a:prstGeom prst="rect">
            <a:avLst/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1280" y="26060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Measures of
Shape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0050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Skewness, Kurtosis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4526280"/>
            <a:ext cx="2560320" cy="50292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72600" y="457200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5577"/>
                </a:solidFill>
              </a:rPr>
              <a:t>What does the distribution look like? (Day 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Mean — Arithmetic Average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86400" cy="9601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731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Formula:  Mean = Sum of all values ÷ Total 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303520" cy="27432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73152" cy="2743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Example: Daily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334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015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856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966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63347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Total = 600
Count = 5
Mean = 600 ÷ 5 = 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5147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CCEEFF"/>
                </a:solidFill>
              </a:rPr>
              <a:t>Interpretation:
On average, the company receives
120 orders per 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960120"/>
            <a:ext cx="5303520" cy="19202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960120"/>
            <a:ext cx="73152" cy="1920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0241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Business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508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🛒 Retail — Average daily 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7451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🏦 Banking — Average transaction 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2402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🏥 Healthcare — Average patient wait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060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🎓 Education — Average assessment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5303520" cy="9601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3017520"/>
            <a:ext cx="73152" cy="9601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30906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E90"/>
                </a:solidFill>
              </a:rPr>
              <a:t>✅ 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4564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Easy to calculate  •  Uses all observations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114800"/>
            <a:ext cx="5303520" cy="96012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4114800"/>
            <a:ext cx="73152" cy="96012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187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888"/>
                </a:solidFill>
              </a:rPr>
              <a:t>⚠️  Limitation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5537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Mean is affected by extreme values (outliers)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Median — The Middle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Divides the dataset into two equal halves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Odd Number of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20240"/>
            <a:ext cx="731520" cy="5486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1A40"/>
                </a:solidFill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920240"/>
            <a:ext cx="731520" cy="5486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308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1A40"/>
                </a:solidFill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920240"/>
            <a:ext cx="7315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8999" y="1920240"/>
            <a:ext cx="731520" cy="5486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39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1A40"/>
                </a:solidFill>
              </a:rPr>
              <a:t>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920240"/>
            <a:ext cx="731520" cy="5486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1A40"/>
                </a:solidFill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542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↑ Median =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71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5577"/>
                </a:solidFill>
              </a:rPr>
              <a:t>Middle value when sorted ascending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9476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73152" cy="20116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8679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Even Number of Values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343400"/>
            <a:ext cx="822960" cy="5486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1A40"/>
                </a:solidFill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343400"/>
            <a:ext cx="822960" cy="5486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11680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4343400"/>
            <a:ext cx="822960" cy="5486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7520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4343400"/>
            <a:ext cx="822960" cy="5486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0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1A40"/>
                </a:solidFill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Median = (15 + 20) / 2 = 17.5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37160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1371600"/>
            <a:ext cx="73152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14447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Interpretation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9202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50% of observations lie below the median
50% lie above the median
Median divides data into two equal halves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84048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0" y="3840480"/>
            <a:ext cx="73152" cy="1920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0" y="39136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When to Use Median?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370832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👔  Employee Salaries
🏠  House Prices
🛍️  Customer Spending
Whenever extreme values (outliers) exist,
median is often preferred over mean.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Mode — Most Frequently Occurring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09728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303520" cy="18288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73152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241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Numeric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731520" cy="54864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1481328"/>
            <a:ext cx="7315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1A4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481328"/>
            <a:ext cx="7315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1A40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59" y="1481328"/>
            <a:ext cx="731520" cy="54864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8999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481328"/>
            <a:ext cx="731520" cy="54864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15270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148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Mode = 3  (appears twice)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26080"/>
            <a:ext cx="5303520" cy="29260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73152" cy="29260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9992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Categorical Example — Payment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747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UPI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538728"/>
            <a:ext cx="27432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83480" y="35387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69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4133088"/>
            <a:ext cx="1828800" cy="347472"/>
          </a:xfrm>
          <a:prstGeom prst="rect">
            <a:avLst/>
          </a:prstGeom>
          <a:solidFill>
            <a:srgbClr val="1C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69080" y="41330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6634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727448"/>
            <a:ext cx="914400" cy="347472"/>
          </a:xfrm>
          <a:prstGeom prst="rect">
            <a:avLst/>
          </a:prstGeom>
          <a:solidFill>
            <a:srgbClr val="1C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54680" y="472744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57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Mode = UPI  (most common)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960120"/>
            <a:ext cx="5303520" cy="48920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960120"/>
            <a:ext cx="73152" cy="48920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10241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Business Applications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508760"/>
            <a:ext cx="5120640" cy="73152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9400" y="1554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🛍️ Customer Preferences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DD"/>
                </a:solidFill>
              </a:rPr>
              <a:t>Most purchased product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331720"/>
            <a:ext cx="5120640" cy="73152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237743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📣 Marketing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2743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DD"/>
                </a:solidFill>
              </a:rPr>
              <a:t>Most preferred channel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3154680"/>
            <a:ext cx="5120640" cy="73152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9400" y="32004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🏦 Banking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35661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DD"/>
                </a:solidFill>
              </a:rPr>
              <a:t>Most common transaction type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977639"/>
            <a:ext cx="5120640" cy="73152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29400" y="402335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📦 Inventory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DD"/>
                </a:solidFill>
              </a:rPr>
              <a:t>Most stocked item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800600"/>
            <a:ext cx="5120640" cy="73152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29400" y="4846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Targeting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212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DD"/>
                </a:solidFill>
              </a:rPr>
              <a:t>Most active user segment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943600"/>
            <a:ext cx="5303520" cy="594360"/>
          </a:xfrm>
          <a:prstGeom prst="rect">
            <a:avLst/>
          </a:prstGeom>
          <a:solidFill>
            <a:srgbClr val="0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6016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E90"/>
                </a:solidFill>
              </a:rPr>
              <a:t>✅  Advantage: Can be used for categorical data!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Mean vs Median — A Critical Distinction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One of the most important concepts for any data professional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35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Employee Salaries (₹):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₹30,000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874519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₹32,000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874519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59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₹35,000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79" y="1874519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19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₹37,000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874519"/>
            <a:ext cx="2011680" cy="6400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874519"/>
            <a:ext cx="2011680" cy="73152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₹500,000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187451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⚠️  Outlier!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517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73152" cy="256032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C2222"/>
                </a:solidFill>
              </a:rPr>
              <a:t>Mean = ₹1,26,800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3832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This is heavily distorted by the
₹5,00,000 outlier salary.
Does this represent a typical employee? ❌  No!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517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2651760"/>
            <a:ext cx="73152" cy="2560320"/>
          </a:xfrm>
          <a:prstGeom prst="rect">
            <a:avLst/>
          </a:prstGeom>
          <a:solidFill>
            <a:srgbClr val="00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2743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8844"/>
                </a:solidFill>
              </a:rPr>
              <a:t>Median = ₹35,000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832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Better representation — not affected
by the extreme salary.
More realistic for most employees. 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5394960"/>
            <a:ext cx="73152" cy="10972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4589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🤔  Analytical Thinking Activity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A company reports:  Mean Salary = ₹75,000  |  Median Salary = ₹40,000
Question: What does this suggest about the salary distribution?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Measures of Variability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Average alone is not enough — consistency matters!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1945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🏪  Store A — Consistent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01952"/>
            <a:ext cx="777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9385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6192" y="1901952"/>
            <a:ext cx="777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9344" y="19385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102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2304" y="1901952"/>
            <a:ext cx="777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05456" y="19385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98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8415" y="1901952"/>
            <a:ext cx="777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19385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101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901952"/>
            <a:ext cx="777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19385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514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EEAA"/>
                </a:solidFill>
              </a:rPr>
              <a:t>Low Variability  →  Predictable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280160"/>
            <a:ext cx="5303520" cy="21945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1280160"/>
            <a:ext cx="530352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3441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🏪  Store B — Volatile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901952"/>
            <a:ext cx="77724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19385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79792" y="1901952"/>
            <a:ext cx="77724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25512" y="19385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75904" y="1901952"/>
            <a:ext cx="77724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21624" y="19385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72016" y="1901952"/>
            <a:ext cx="77724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17736" y="19385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150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68128" y="1901952"/>
            <a:ext cx="77724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13848" y="19385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1A40"/>
                </a:solidFill>
              </a:rPr>
              <a:t>120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514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88"/>
                </a:solidFill>
              </a:rPr>
              <a:t>High Variability  →  Unpredictable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57600"/>
            <a:ext cx="3566160" cy="28346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365760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0" y="379476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4622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Range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029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Highest − Lowest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650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9BBCC"/>
                </a:solidFill>
              </a:rPr>
              <a:t>Simple but only uses 2 values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657600"/>
            <a:ext cx="3566160" cy="28346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97680" y="3657600"/>
            <a:ext cx="356616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0" y="379476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4622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F1C"/>
                </a:solidFill>
              </a:rPr>
              <a:t>Variance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029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Average squared
difference from mean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650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9BBCC"/>
                </a:solidFill>
              </a:rPr>
              <a:t>Used in calculations — hard to interpret directly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657600"/>
            <a:ext cx="3566160" cy="28346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38160" y="3657600"/>
            <a:ext cx="3566160" cy="73152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09760" y="379476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4622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0EE90"/>
                </a:solidFill>
              </a:rPr>
              <a:t>Standard
Deviation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029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Average spread
around the mean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5650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9BBCC"/>
                </a:solidFill>
              </a:rPr>
              <a:t>Most useful for business interpretation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Standard Deviation — The Most Important Variability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Measures the average spread of observations around the mean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2560320"/>
          </a:xfrm>
          <a:prstGeom prst="rect">
            <a:avLst/>
          </a:prstGeom>
          <a:solidFill>
            <a:srgbClr val="00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844"/>
                </a:solidFill>
              </a:rPr>
              <a:t>📉  Low Standard 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Store A: 100, 105, 110, 100, 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✅  Consistent performance
✅  Predictable outcomes
✅  Easier planning and forecasting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73152" cy="2560320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4447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4400"/>
                </a:solidFill>
              </a:rPr>
              <a:t>📈  High Standard Deviation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Store B: 50, 200, 80, 170,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5577"/>
                </a:solidFill>
              </a:rPr>
              <a:t>⚠️  Unpredictable performance
⚠️  Greater uncertainty
⚠️  Harder to plan around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1A40"/>
                </a:solidFill>
              </a:rPr>
              <a:t>Real Business Applications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🏭  Manufacturing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Quality consistency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61772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46177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4709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🏦  Banking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1663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Transaction 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1772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6177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709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🛒  Retail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663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Sales performance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461772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35440" y="4617720"/>
            <a:ext cx="6400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4709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🤖  AI &amp; 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51663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Model evaluation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Understanding Outliers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Unusually high or low values compared to the rest of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669280" cy="1645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Customer Spending (₹)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01368"/>
            <a:ext cx="777240" cy="5029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₹500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72768" y="1801368"/>
            <a:ext cx="777240" cy="5029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91056" y="1847088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₹600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9736" y="1801368"/>
            <a:ext cx="777240" cy="5029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78024" y="1847088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₹700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6704" y="1801368"/>
            <a:ext cx="777240" cy="5029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64992" y="1847088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₹650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3672" y="1801368"/>
            <a:ext cx="777240" cy="5029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59" y="1847088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₹550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801368"/>
            <a:ext cx="77724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38927" y="1847088"/>
            <a:ext cx="7498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₹25,000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377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C88"/>
                </a:solidFill>
              </a:rPr>
              <a:t>↑ Outlier: ₹25,000 — significantly different from the 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26080"/>
            <a:ext cx="5669280" cy="16916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73152" cy="1691640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999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888"/>
                </a:solidFill>
              </a:rPr>
              <a:t>Impact on Mean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564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Without outlier:  10, 12, 15, 18, 20  →  Mean =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9F1C"/>
                </a:solidFill>
              </a:rPr>
              <a:t>With outlier:  10, 12, 15, 18, 100  →  Mean = 31 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159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AA88"/>
                </a:solidFill>
              </a:rPr>
              <a:t>A single value drastically changed the average!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280160"/>
            <a:ext cx="5303520" cy="23774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1280160"/>
            <a:ext cx="73152" cy="2377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3533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Why Do Outliers Occur?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81051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1.  Data Entry Errors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15798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2.  Measurement Errors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50545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3.  Rare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85292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4.  Fraudulent Activities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2004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5.  Genuine Exceptional Cases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840480"/>
            <a:ext cx="5303520" cy="26060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3840480"/>
            <a:ext cx="73152" cy="2606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39136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Business Applications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3708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🏦 Banking: Suspicious transactions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69087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🏥 Healthcare: Abnormal readings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01091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🛒 Retail: Unusually large purchases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33095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🏭 Manufacturing: Defective products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65099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🤖 AI: Anomalous model behavior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97103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🔒 Cybersecurity: Unusual network activity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AACC"/>
                </a:solidFill>
              </a:rPr>
              <a:t>📅  Day 3: Identifying outliers using Quartiles, IQR, Boxplots, Z-Scores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Activity — Investigating Outliers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Not every outlier is an error — some contain valuable business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0" cy="12801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Dataset: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01952"/>
            <a:ext cx="640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1A40"/>
                </a:solidFill>
              </a:rPr>
              <a:t>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1901952"/>
            <a:ext cx="640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1A40"/>
                </a:solidFill>
              </a:rPr>
              <a:t>48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1901952"/>
            <a:ext cx="640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57400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1A40"/>
                </a:solidFill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901952"/>
            <a:ext cx="640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1A40"/>
                </a:solidFill>
              </a:rPr>
              <a:t>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901952"/>
            <a:ext cx="640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1A40"/>
                </a:solidFill>
              </a:rPr>
              <a:t>49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1901952"/>
            <a:ext cx="640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0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61A40"/>
                </a:solidFill>
              </a:rPr>
              <a:t>51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901952"/>
            <a:ext cx="64008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19476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3464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28895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Q1: Which value appears unusual?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735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→  180 — significantly higher than the rest (45–51)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0332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703320"/>
            <a:ext cx="64008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75818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Q2: What might be the reason?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42231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→  Data entry error? Special event? Exceptional case?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6268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Q3: Would you immediately remove it?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→  No! Always investigate before removing any outlier.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40679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440679"/>
            <a:ext cx="64008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4955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Q4: What business questions would you ask?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795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→  What was happening on that day? Is there a context?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355080"/>
            <a:ext cx="11247120" cy="384048"/>
          </a:xfrm>
          <a:prstGeom prst="rect">
            <a:avLst/>
          </a:prstGeom>
          <a:solidFill>
            <a:srgbClr val="E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💡  A good data professional always investigates outliers before deciding whether to remove them.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Excel Analytics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Apply descriptive statistics using Excel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📋  Case Study: A retail company operates two stores and wants to evaluate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566160" cy="13716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73152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=AVERAGE()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Calculates the mean of a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566160" cy="13716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73152" cy="13716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=MEDIAN()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54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Finds the middle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468880"/>
            <a:ext cx="3566160" cy="13716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2468880"/>
            <a:ext cx="73152" cy="13716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E90"/>
                </a:solidFill>
              </a:rPr>
              <a:t>=MODE.SNGL()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54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Returns the most frequent 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3566160" cy="13716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73152" cy="1371600"/>
          </a:xfrm>
          <a:prstGeom prst="rect">
            <a:avLst/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A88"/>
                </a:solidFill>
              </a:rPr>
              <a:t>=MAX() - MIN()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Calculates the range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023360"/>
            <a:ext cx="3566160" cy="13716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0" y="4023360"/>
            <a:ext cx="73152" cy="1371600"/>
          </a:xfrm>
          <a:prstGeom prst="rect">
            <a:avLst/>
          </a:prstGeom>
          <a:solidFill>
            <a:srgbClr val="CC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AAFF"/>
                </a:solidFill>
              </a:rPr>
              <a:t>=STDEV.S()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709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Sample standard deviation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023360"/>
            <a:ext cx="3566160" cy="13716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4023360"/>
            <a:ext cx="73152" cy="1371600"/>
          </a:xfrm>
          <a:prstGeom prst="rect">
            <a:avLst/>
          </a:prstGeom>
          <a:solidFill>
            <a:srgbClr val="FFE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EE88"/>
                </a:solidFill>
              </a:rPr>
              <a:t>=VAR.S()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709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Sample variance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0AACC"/>
                </a:solidFill>
              </a:rPr>
              <a:t>Objective: Calculate all measures for both stores and compare their performance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What's Coming — Day 2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Today we summarized data. Tomorrow — we learn to work with incomplete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6400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/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Population &amp;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70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Studying everyone vs. studying a subset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64008" cy="1828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/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13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Parameters &amp;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70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How sample results estimate population characteristics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6400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/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13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Census vs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70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Advantages and limitations of each approach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2900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429000"/>
            <a:ext cx="64008" cy="1828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/>
              <a:t>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25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Sampling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823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Probability &amp; Non-Probability sampling techniques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42900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06240" y="3429000"/>
            <a:ext cx="64008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/>
              <a:t>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325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Sampling Bias &amp;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7823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How poor sampling leads to misleading conclusions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429000"/>
            <a:ext cx="3566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6720" y="3429000"/>
            <a:ext cx="64008" cy="1828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/>
              <a:t>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325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Introduction to Probability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7823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Understanding uncertainty with probability concepts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Day 1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What we covered today: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5303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Why Statistics matters — roles, industries, and business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11247120" cy="53035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2257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Two branches: Descriptive (What happened?) &amp; Inferential (What might happen?)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25496"/>
            <a:ext cx="11247120" cy="5303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88950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Data → Information → Insight → Decision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92424"/>
            <a:ext cx="11247120" cy="53035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456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Types of data: Qualitative vs Quantitative, Discrete vs Continuous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59352"/>
            <a:ext cx="11247120" cy="5303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023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Measurement scales: Nominal, Ordinal, Interval, Ratio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11247120" cy="53035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5902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Measures of Central Tendency: Mean, Median,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93208"/>
            <a:ext cx="11247120" cy="5303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157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Measures of Variability: Range, Variance, Standard Deviation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0136"/>
            <a:ext cx="11247120" cy="530352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7241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Outliers: What they are, why they occur, and why context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See you in Day 2 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2069</Words>
  <Application>Microsoft Office PowerPoint</Application>
  <PresentationFormat>Custom</PresentationFormat>
  <Paragraphs>446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Ramya Murugesh</cp:lastModifiedBy>
  <cp:revision>2</cp:revision>
  <dcterms:created xsi:type="dcterms:W3CDTF">2013-01-27T09:14:16Z</dcterms:created>
  <dcterms:modified xsi:type="dcterms:W3CDTF">2026-06-03T11:24:06Z</dcterms:modified>
  <cp:category/>
</cp:coreProperties>
</file>